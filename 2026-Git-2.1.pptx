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58D8DB-5CEB-50D8-B068-75728660E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71600" y="22860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00356B"/>
                </a:solidFill>
                <a:latin typeface="Gautami"/>
              </a:rPr>
              <a:t>Git &amp; GitHub Workshop</a:t>
            </a:r>
          </a:p>
          <a:p>
            <a:pPr algn="ctr">
              <a:spcBef>
                <a:spcPts val="1200"/>
              </a:spcBef>
            </a:pPr>
            <a:r>
              <a:rPr sz="3600" b="1">
                <a:solidFill>
                  <a:srgbClr val="333333"/>
                </a:solidFill>
                <a:latin typeface="Microsoft Sans Serif"/>
              </a:rPr>
              <a:t>Part 2: GitHub Pages</a:t>
            </a:r>
          </a:p>
          <a:p>
            <a:pPr algn="ctr">
              <a:spcBef>
                <a:spcPts val="1800"/>
              </a:spcBef>
            </a:pPr>
            <a:r>
              <a:rPr sz="2400">
                <a:solidFill>
                  <a:srgbClr val="333333"/>
                </a:solidFill>
                <a:latin typeface="Microsoft Sans Serif"/>
              </a:rPr>
              <a:t>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58D8DB-5CEB-50D8-B068-75728660E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8110" y="987903"/>
            <a:ext cx="1092641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2400" b="1">
                <a:latin typeface="Microsoft Sans Serif"/>
              </a:rPr>
              <a:t>Who?</a:t>
            </a:r>
          </a:p>
          <a:p>
            <a:r>
              <a:rPr sz="2400">
                <a:latin typeface="Microsoft Sans Serif"/>
              </a:rPr>
              <a:t>Mitchell Horn, Senior Research Data Analyst, YSE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Microsoft Sans Serif"/>
              </a:rPr>
              <a:t>What?</a:t>
            </a:r>
          </a:p>
          <a:p>
            <a:r>
              <a:rPr sz="2400">
                <a:latin typeface="Microsoft Sans Serif"/>
              </a:rPr>
              <a:t>Git &amp; GitHub – Part 2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Microsoft Sans Serif"/>
              </a:rPr>
              <a:t>Why?</a:t>
            </a:r>
          </a:p>
          <a:p>
            <a:r>
              <a:rPr sz="2400">
                <a:latin typeface="Microsoft Sans Serif"/>
              </a:rPr>
              <a:t>Publish your work and build your online presence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Microsoft Sans Serif"/>
              </a:rPr>
              <a:t>How?</a:t>
            </a:r>
          </a:p>
          <a:p>
            <a:r>
              <a:rPr sz="2400">
                <a:latin typeface="Microsoft Sans Serif"/>
              </a:rPr>
              <a:t>Hands-on: build and deploy a website with GitHub Pages</a:t>
            </a:r>
          </a:p>
          <a:p>
            <a:pPr>
              <a:spcBef>
                <a:spcPts val="1200"/>
              </a:spcBef>
            </a:pPr>
            <a:r>
              <a:rPr sz="2400" b="1">
                <a:latin typeface="Microsoft Sans Serif"/>
              </a:rPr>
              <a:t>Goal?</a:t>
            </a:r>
          </a:p>
          <a:p>
            <a:r>
              <a:rPr sz="2400">
                <a:latin typeface="Microsoft Sans Serif"/>
              </a:rPr>
              <a:t>Your own live website at github.io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58D8DB-5CEB-50D8-B068-75728660E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8110" y="987903"/>
            <a:ext cx="1092641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3200" b="1">
                <a:solidFill>
                  <a:srgbClr val="00356B"/>
                </a:solidFill>
                <a:latin typeface="Microsoft Sans Serif"/>
              </a:rPr>
              <a:t>Recap: Part 1</a:t>
            </a:r>
          </a:p>
          <a:p>
            <a:pPr>
              <a:spcBef>
                <a:spcPts val="1000"/>
              </a:spcBef>
            </a:pPr>
            <a:r>
              <a:rPr sz="2400">
                <a:latin typeface="Microsoft Sans Serif"/>
              </a:rPr>
              <a:t>✅  Installed git and created a GitHub account</a:t>
            </a:r>
          </a:p>
          <a:p>
            <a:pPr>
              <a:spcBef>
                <a:spcPts val="1000"/>
              </a:spcBef>
            </a:pPr>
            <a:r>
              <a:rPr sz="2400">
                <a:latin typeface="Microsoft Sans Serif"/>
              </a:rPr>
              <a:t>✅  Configured git identity and SSH keys</a:t>
            </a:r>
          </a:p>
          <a:p>
            <a:pPr>
              <a:spcBef>
                <a:spcPts val="1000"/>
              </a:spcBef>
            </a:pPr>
            <a:r>
              <a:rPr sz="2400">
                <a:latin typeface="Microsoft Sans Serif"/>
              </a:rPr>
              <a:t>✅  Learned: clone, status, add, commit, push</a:t>
            </a:r>
          </a:p>
          <a:p>
            <a:pPr>
              <a:spcBef>
                <a:spcPts val="1000"/>
              </a:spcBef>
            </a:pPr>
            <a:r>
              <a:rPr sz="2400">
                <a:latin typeface="Microsoft Sans Serif"/>
              </a:rPr>
              <a:t>✅  Forked and starred repositories</a:t>
            </a:r>
          </a:p>
          <a:p>
            <a:pPr>
              <a:spcBef>
                <a:spcPts val="2400"/>
              </a:spcBef>
            </a:pPr>
            <a:r>
              <a:rPr sz="2800" b="1">
                <a:solidFill>
                  <a:srgbClr val="00356B"/>
                </a:solidFill>
                <a:latin typeface="Microsoft Sans Serif"/>
              </a:rPr>
              <a:t>Today we put it all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58D8DB-5CEB-50D8-B068-75728660E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8110" y="987903"/>
            <a:ext cx="1092641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3200" b="1">
                <a:solidFill>
                  <a:srgbClr val="00356B"/>
                </a:solidFill>
                <a:latin typeface="Microsoft Sans Serif"/>
              </a:rPr>
              <a:t>What is GitHub Pages?</a:t>
            </a:r>
          </a:p>
          <a:p>
            <a:pPr>
              <a:spcBef>
                <a:spcPts val="1400"/>
              </a:spcBef>
            </a:pPr>
            <a:r>
              <a:rPr sz="2400">
                <a:latin typeface="Microsoft Sans Serif"/>
              </a:rPr>
              <a:t>A free hosting service from GitHub that turns a repository into a live website.</a:t>
            </a:r>
          </a:p>
          <a:p>
            <a:pPr>
              <a:spcBef>
                <a:spcPts val="800"/>
              </a:spcBef>
            </a:pPr>
            <a:r>
              <a:rPr sz="2200">
                <a:latin typeface="Microsoft Sans Serif"/>
              </a:rPr>
              <a:t>•  Free for public repositories</a:t>
            </a:r>
          </a:p>
          <a:p>
            <a:pPr>
              <a:spcBef>
                <a:spcPts val="800"/>
              </a:spcBef>
            </a:pPr>
            <a:r>
              <a:rPr sz="2200">
                <a:latin typeface="Microsoft Sans Serif"/>
              </a:rPr>
              <a:t>•  Serves static files: HTML, CSS, JavaScript</a:t>
            </a:r>
          </a:p>
          <a:p>
            <a:pPr>
              <a:spcBef>
                <a:spcPts val="800"/>
              </a:spcBef>
            </a:pPr>
            <a:r>
              <a:rPr sz="2200">
                <a:latin typeface="Microsoft Sans Serif"/>
              </a:rPr>
              <a:t>•  URL format: https://username.github.io/repo-name/</a:t>
            </a:r>
          </a:p>
          <a:p>
            <a:pPr>
              <a:spcBef>
                <a:spcPts val="800"/>
              </a:spcBef>
            </a:pPr>
            <a:r>
              <a:rPr sz="2200">
                <a:latin typeface="Microsoft Sans Serif"/>
              </a:rPr>
              <a:t>•  Automatically updates when you push 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58D8DB-5CEB-50D8-B068-75728660E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8110" y="987903"/>
            <a:ext cx="1092641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3200" b="1">
                <a:solidFill>
                  <a:srgbClr val="00356B"/>
                </a:solidFill>
                <a:latin typeface="Microsoft Sans Serif"/>
              </a:rPr>
              <a:t>Before We Start</a:t>
            </a:r>
          </a:p>
          <a:p>
            <a:pPr>
              <a:spcBef>
                <a:spcPts val="1400"/>
              </a:spcBef>
            </a:pPr>
            <a:r>
              <a:rPr sz="2800" b="1">
                <a:latin typeface="Microsoft Sans Serif"/>
              </a:rPr>
              <a:t>1.  </a:t>
            </a:r>
            <a:r>
              <a:rPr sz="2800">
                <a:latin typeface="Microsoft Sans Serif"/>
              </a:rPr>
              <a:t>You have a GitHub account and can log in</a:t>
            </a:r>
          </a:p>
          <a:p>
            <a:pPr>
              <a:spcBef>
                <a:spcPts val="1400"/>
              </a:spcBef>
            </a:pPr>
            <a:r>
              <a:rPr sz="2800" b="1">
                <a:latin typeface="Microsoft Sans Serif"/>
              </a:rPr>
              <a:t>2.  </a:t>
            </a:r>
            <a:r>
              <a:rPr sz="2800">
                <a:latin typeface="Microsoft Sans Serif"/>
              </a:rPr>
              <a:t>You have git installed and configured (from Part 1)</a:t>
            </a:r>
          </a:p>
          <a:p>
            <a:pPr>
              <a:spcBef>
                <a:spcPts val="1400"/>
              </a:spcBef>
            </a:pPr>
            <a:r>
              <a:rPr sz="2800" b="1">
                <a:latin typeface="Microsoft Sans Serif"/>
              </a:rPr>
              <a:t>3.  </a:t>
            </a:r>
            <a:r>
              <a:rPr sz="2800">
                <a:latin typeface="Microsoft Sans Serif"/>
              </a:rPr>
              <a:t>You have a terminal / command line open</a:t>
            </a:r>
          </a:p>
          <a:p>
            <a:pPr>
              <a:spcBef>
                <a:spcPts val="2000"/>
              </a:spcBef>
            </a:pPr>
            <a:r>
              <a:rPr sz="2000">
                <a:solidFill>
                  <a:srgbClr val="333333"/>
                </a:solidFill>
                <a:latin typeface="Microsoft Sans Serif"/>
              </a:rPr>
              <a:t>Need help? Refer to the Part 1 workshop materials.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58D8DB-5CEB-50D8-B068-75728660E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8110" y="987903"/>
            <a:ext cx="1092641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3200" b="1">
                <a:solidFill>
                  <a:srgbClr val="00356B"/>
                </a:solidFill>
                <a:latin typeface="Microsoft Sans Serif"/>
              </a:rPr>
              <a:t>Activity 1: Clone the Template</a:t>
            </a:r>
          </a:p>
          <a:p>
            <a:pPr>
              <a:spcBef>
                <a:spcPts val="1400"/>
              </a:spcBef>
            </a:pPr>
            <a:r>
              <a:rPr sz="2400">
                <a:latin typeface="Microsoft Sans Serif"/>
              </a:rPr>
              <a:t>Open your terminal and type: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008000"/>
                </a:solidFill>
                <a:latin typeface="Consolas"/>
              </a:rPr>
              <a:t>cd ~/Desktop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008000"/>
                </a:solidFill>
                <a:latin typeface="Consolas"/>
              </a:rPr>
              <a:t>git clone https://github.com/mitchellxh/test-page.git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008000"/>
                </a:solidFill>
                <a:latin typeface="Consolas"/>
              </a:rPr>
              <a:t>cd test-page</a:t>
            </a:r>
          </a:p>
          <a:p>
            <a:pPr>
              <a:spcBef>
                <a:spcPts val="1600"/>
              </a:spcBef>
            </a:pPr>
            <a:r>
              <a:rPr sz="2400">
                <a:latin typeface="Microsoft Sans Serif"/>
              </a:rPr>
              <a:t>Verify the files: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008000"/>
                </a:solidFill>
                <a:latin typeface="Consolas"/>
              </a:rPr>
              <a:t>ls -l</a:t>
            </a:r>
          </a:p>
          <a:p>
            <a:pPr>
              <a:spcBef>
                <a:spcPts val="1000"/>
              </a:spcBef>
            </a:pPr>
            <a:r>
              <a:rPr sz="2000">
                <a:solidFill>
                  <a:srgbClr val="333333"/>
                </a:solidFill>
                <a:latin typeface="Microsoft Sans Serif"/>
              </a:rPr>
              <a:t>You should see: index.html, style.css, script.js, README.md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58D8DB-5CEB-50D8-B068-75728660E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8110" y="987903"/>
            <a:ext cx="1092641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3200" b="1">
                <a:solidFill>
                  <a:srgbClr val="00356B"/>
                </a:solidFill>
                <a:latin typeface="Microsoft Sans Serif"/>
              </a:rPr>
              <a:t>Activity 2: Personalize Your Page</a:t>
            </a:r>
          </a:p>
          <a:p>
            <a:pPr>
              <a:spcBef>
                <a:spcPts val="1400"/>
              </a:spcBef>
            </a:pPr>
            <a:r>
              <a:rPr sz="2400">
                <a:latin typeface="Microsoft Sans Serif"/>
              </a:rPr>
              <a:t>Open index.html in your text editor:</a:t>
            </a:r>
          </a:p>
          <a:p>
            <a:pPr>
              <a:spcBef>
                <a:spcPts val="800"/>
              </a:spcBef>
            </a:pPr>
            <a:r>
              <a:rPr sz="2200">
                <a:latin typeface="Microsoft Sans Serif"/>
              </a:rPr>
              <a:t>1.  Find YOUR_USERNAME and replace with your GitHub username</a:t>
            </a:r>
          </a:p>
          <a:p>
            <a:pPr>
              <a:spcBef>
                <a:spcPts val="800"/>
              </a:spcBef>
            </a:pPr>
            <a:r>
              <a:rPr sz="2200">
                <a:latin typeface="Microsoft Sans Serif"/>
              </a:rPr>
              <a:t>2.  Change the heading to something personal</a:t>
            </a:r>
          </a:p>
          <a:p>
            <a:pPr>
              <a:spcBef>
                <a:spcPts val="800"/>
              </a:spcBef>
            </a:pPr>
            <a:r>
              <a:rPr sz="2200">
                <a:latin typeface="Microsoft Sans Serif"/>
              </a:rPr>
              <a:t>3.  Save the file</a:t>
            </a:r>
          </a:p>
          <a:p>
            <a:pPr>
              <a:spcBef>
                <a:spcPts val="1600"/>
              </a:spcBef>
            </a:pPr>
            <a:r>
              <a:rPr sz="2400">
                <a:latin typeface="Microsoft Sans Serif"/>
              </a:rPr>
              <a:t>Then in your terminal: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008000"/>
                </a:solidFill>
                <a:latin typeface="Consolas"/>
              </a:rPr>
              <a:t>git status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008000"/>
                </a:solidFill>
                <a:latin typeface="Consolas"/>
              </a:rPr>
              <a:t>git add .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008000"/>
                </a:solidFill>
                <a:latin typeface="Consolas"/>
              </a:rPr>
              <a:t>git commit -m "Personalize my GitHub page"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58D8DB-5CEB-50D8-B068-75728660E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8110" y="987903"/>
            <a:ext cx="1092641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3200" b="1">
                <a:solidFill>
                  <a:srgbClr val="00356B"/>
                </a:solidFill>
                <a:latin typeface="Microsoft Sans Serif"/>
              </a:rPr>
              <a:t>Activity 3: Create Your Repository</a:t>
            </a:r>
          </a:p>
          <a:p>
            <a:pPr>
              <a:spcBef>
                <a:spcPts val="1400"/>
              </a:spcBef>
            </a:pPr>
            <a:r>
              <a:rPr sz="2400">
                <a:latin typeface="Microsoft Sans Serif"/>
              </a:rPr>
              <a:t>On GitHub.com:</a:t>
            </a:r>
          </a:p>
          <a:p>
            <a:pPr>
              <a:spcBef>
                <a:spcPts val="600"/>
              </a:spcBef>
            </a:pPr>
            <a:r>
              <a:rPr sz="2200">
                <a:latin typeface="Microsoft Sans Serif"/>
              </a:rPr>
              <a:t>1.  Click  +  →  "New repository"</a:t>
            </a:r>
          </a:p>
          <a:p>
            <a:pPr>
              <a:spcBef>
                <a:spcPts val="600"/>
              </a:spcBef>
            </a:pPr>
            <a:r>
              <a:rPr sz="2200">
                <a:latin typeface="Microsoft Sans Serif"/>
              </a:rPr>
              <a:t>2.  Name it: my-first-website</a:t>
            </a:r>
          </a:p>
          <a:p>
            <a:pPr>
              <a:spcBef>
                <a:spcPts val="600"/>
              </a:spcBef>
            </a:pPr>
            <a:r>
              <a:rPr sz="2200">
                <a:latin typeface="Microsoft Sans Serif"/>
              </a:rPr>
              <a:t>3.  Keep it Public</a:t>
            </a:r>
          </a:p>
          <a:p>
            <a:pPr>
              <a:spcBef>
                <a:spcPts val="600"/>
              </a:spcBef>
            </a:pPr>
            <a:r>
              <a:rPr sz="2200">
                <a:latin typeface="Microsoft Sans Serif"/>
              </a:rPr>
              <a:t>4.  Do NOT initialize with README</a:t>
            </a:r>
          </a:p>
          <a:p>
            <a:pPr>
              <a:spcBef>
                <a:spcPts val="600"/>
              </a:spcBef>
            </a:pPr>
            <a:r>
              <a:rPr sz="2200">
                <a:latin typeface="Microsoft Sans Serif"/>
              </a:rPr>
              <a:t>5.  Click "Create repository"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58D8DB-5CEB-50D8-B068-75728660E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8110" y="987903"/>
            <a:ext cx="1092641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3200" b="1">
                <a:solidFill>
                  <a:srgbClr val="00356B"/>
                </a:solidFill>
                <a:latin typeface="Microsoft Sans Serif"/>
              </a:rPr>
              <a:t>Activity 3: Connect &amp; Push</a:t>
            </a:r>
          </a:p>
          <a:p>
            <a:pPr>
              <a:spcBef>
                <a:spcPts val="1400"/>
              </a:spcBef>
            </a:pPr>
            <a:r>
              <a:rPr sz="2400">
                <a:latin typeface="Microsoft Sans Serif"/>
              </a:rPr>
              <a:t>Back in your terminal: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008000"/>
                </a:solidFill>
                <a:latin typeface="Consolas"/>
              </a:rPr>
              <a:t>git remote remove origin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008000"/>
                </a:solidFill>
                <a:latin typeface="Consolas"/>
              </a:rPr>
              <a:t>git remote add origin git@github.com:YOUR_USERNAME/my-first-website.git</a:t>
            </a:r>
          </a:p>
          <a:p>
            <a:pPr>
              <a:spcBef>
                <a:spcPts val="800"/>
              </a:spcBef>
            </a:pPr>
            <a:r>
              <a:rPr sz="2000">
                <a:solidFill>
                  <a:srgbClr val="008000"/>
                </a:solidFill>
                <a:latin typeface="Consolas"/>
              </a:rPr>
              <a:t>git push -u origin main</a:t>
            </a:r>
          </a:p>
          <a:p>
            <a:pPr>
              <a:spcBef>
                <a:spcPts val="1600"/>
              </a:spcBef>
            </a:pPr>
            <a:r>
              <a:rPr sz="2200">
                <a:latin typeface="Microsoft Sans Serif"/>
              </a:rPr>
              <a:t>If you get an error about 'main':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008000"/>
                </a:solidFill>
                <a:latin typeface="Consolas"/>
              </a:rPr>
              <a:t>git branch -M main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008000"/>
                </a:solidFill>
                <a:latin typeface="Consolas"/>
              </a:rPr>
              <a:t>git push -u origin main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58D8DB-5CEB-50D8-B068-75728660E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8110" y="987903"/>
            <a:ext cx="1092641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3200" b="1">
                <a:solidFill>
                  <a:srgbClr val="00356B"/>
                </a:solidFill>
                <a:latin typeface="Microsoft Sans Serif"/>
              </a:rPr>
              <a:t>Activity 4: Enable GitHub Pages</a:t>
            </a:r>
          </a:p>
          <a:p>
            <a:pPr>
              <a:spcBef>
                <a:spcPts val="1400"/>
              </a:spcBef>
            </a:pPr>
            <a:r>
              <a:rPr sz="2400">
                <a:latin typeface="Microsoft Sans Serif"/>
              </a:rPr>
              <a:t>In your repository on GitHub.com:</a:t>
            </a:r>
          </a:p>
          <a:p>
            <a:pPr>
              <a:spcBef>
                <a:spcPts val="600"/>
              </a:spcBef>
            </a:pPr>
            <a:r>
              <a:rPr sz="2200">
                <a:latin typeface="Microsoft Sans Serif"/>
              </a:rPr>
              <a:t>1.  Click Settings</a:t>
            </a:r>
          </a:p>
          <a:p>
            <a:pPr>
              <a:spcBef>
                <a:spcPts val="600"/>
              </a:spcBef>
            </a:pPr>
            <a:r>
              <a:rPr sz="2200">
                <a:latin typeface="Microsoft Sans Serif"/>
              </a:rPr>
              <a:t>2.  Click Pages (left sidebar)</a:t>
            </a:r>
          </a:p>
          <a:p>
            <a:pPr>
              <a:spcBef>
                <a:spcPts val="600"/>
              </a:spcBef>
            </a:pPr>
            <a:r>
              <a:rPr sz="2200">
                <a:latin typeface="Microsoft Sans Serif"/>
              </a:rPr>
              <a:t>3.  Source: "Deploy from a branch"</a:t>
            </a:r>
          </a:p>
          <a:p>
            <a:pPr>
              <a:spcBef>
                <a:spcPts val="600"/>
              </a:spcBef>
            </a:pPr>
            <a:r>
              <a:rPr sz="2200">
                <a:latin typeface="Microsoft Sans Serif"/>
              </a:rPr>
              <a:t>4.  Branch: main  /  / (root)</a:t>
            </a:r>
          </a:p>
          <a:p>
            <a:pPr>
              <a:spcBef>
                <a:spcPts val="600"/>
              </a:spcBef>
            </a:pPr>
            <a:r>
              <a:rPr sz="2200">
                <a:latin typeface="Microsoft Sans Serif"/>
              </a:rPr>
              <a:t>5.  Click Save</a:t>
            </a:r>
          </a:p>
          <a:p>
            <a:pPr>
              <a:spcBef>
                <a:spcPts val="600"/>
              </a:spcBef>
            </a:pPr>
            <a:r>
              <a:rPr sz="2200">
                <a:latin typeface="Microsoft Sans Serif"/>
              </a:rPr>
              <a:t>6.  Check the Actions tab for build progress</a:t>
            </a:r>
          </a:p>
          <a:p>
            <a:pPr>
              <a:spcBef>
                <a:spcPts val="1400"/>
              </a:spcBef>
            </a:pPr>
            <a:r>
              <a:rPr sz="2400">
                <a:latin typeface="Microsoft Sans Serif"/>
              </a:rPr>
              <a:t>After 2-5 minutes, visit: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008000"/>
                </a:solidFill>
                <a:latin typeface="Consolas"/>
              </a:rPr>
              <a:t>https://YOUR_USERNAME.github.io/my-first-website/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58D8DB-5CEB-50D8-B068-75728660E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8110" y="987903"/>
            <a:ext cx="1092641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3200" b="1">
                <a:solidFill>
                  <a:srgbClr val="00356B"/>
                </a:solidFill>
                <a:latin typeface="Microsoft Sans Serif"/>
              </a:rPr>
              <a:t>Activity 5: Make Another Change</a:t>
            </a:r>
          </a:p>
          <a:p>
            <a:pPr>
              <a:spcBef>
                <a:spcPts val="1400"/>
              </a:spcBef>
            </a:pPr>
            <a:r>
              <a:rPr sz="2400">
                <a:latin typeface="Microsoft Sans Serif"/>
              </a:rPr>
              <a:t>Try changing colors in style.css, then: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008000"/>
                </a:solidFill>
                <a:latin typeface="Consolas"/>
              </a:rPr>
              <a:t>git status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008000"/>
                </a:solidFill>
                <a:latin typeface="Consolas"/>
              </a:rPr>
              <a:t>git add .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008000"/>
                </a:solidFill>
                <a:latin typeface="Consolas"/>
              </a:rPr>
              <a:t>git commit -m "Update site styles"</a:t>
            </a:r>
          </a:p>
          <a:p>
            <a:pPr>
              <a:spcBef>
                <a:spcPts val="600"/>
              </a:spcBef>
            </a:pPr>
            <a:r>
              <a:rPr sz="2200">
                <a:solidFill>
                  <a:srgbClr val="008000"/>
                </a:solidFill>
                <a:latin typeface="Consolas"/>
              </a:rPr>
              <a:t>git push</a:t>
            </a:r>
          </a:p>
          <a:p>
            <a:pPr>
              <a:spcBef>
                <a:spcPts val="1600"/>
              </a:spcBef>
            </a:pPr>
            <a:r>
              <a:rPr sz="2400" b="1">
                <a:latin typeface="Microsoft Sans Serif"/>
              </a:rPr>
              <a:t>Your GitHub Pages site will automatically update!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58D8DB-5CEB-50D8-B068-75728660E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8110" y="987903"/>
            <a:ext cx="1092641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3200" b="1">
                <a:solidFill>
                  <a:srgbClr val="00356B"/>
                </a:solidFill>
                <a:latin typeface="Microsoft Sans Serif"/>
              </a:rPr>
              <a:t>The Git Workflow</a:t>
            </a:r>
          </a:p>
          <a:p>
            <a:pPr algn="ctr">
              <a:spcBef>
                <a:spcPts val="2400"/>
              </a:spcBef>
            </a:pPr>
            <a:r>
              <a:rPr sz="3600" b="1">
                <a:solidFill>
                  <a:srgbClr val="00356B"/>
                </a:solidFill>
                <a:latin typeface="Microsoft Sans Serif"/>
              </a:rPr>
              <a:t>Save  →  Add  →  Commit  →  Push</a:t>
            </a:r>
          </a:p>
          <a:p>
            <a:pPr>
              <a:spcBef>
                <a:spcPts val="1000"/>
              </a:spcBef>
            </a:pPr>
            <a:r>
              <a:rPr sz="2200">
                <a:solidFill>
                  <a:srgbClr val="008000"/>
                </a:solidFill>
                <a:latin typeface="Consolas"/>
              </a:rPr>
              <a:t>Save</a:t>
            </a:r>
            <a:r>
              <a:rPr sz="2200">
                <a:latin typeface="Microsoft Sans Serif"/>
              </a:rPr>
              <a:t>    Edit your files in a text editor</a:t>
            </a:r>
          </a:p>
          <a:p>
            <a:pPr>
              <a:spcBef>
                <a:spcPts val="1000"/>
              </a:spcBef>
            </a:pPr>
            <a:r>
              <a:rPr sz="2200">
                <a:solidFill>
                  <a:srgbClr val="008000"/>
                </a:solidFill>
                <a:latin typeface="Consolas"/>
              </a:rPr>
              <a:t>git add .</a:t>
            </a:r>
            <a:r>
              <a:rPr sz="2200">
                <a:latin typeface="Microsoft Sans Serif"/>
              </a:rPr>
              <a:t>    Stage the changes</a:t>
            </a:r>
          </a:p>
          <a:p>
            <a:pPr>
              <a:spcBef>
                <a:spcPts val="1000"/>
              </a:spcBef>
            </a:pPr>
            <a:r>
              <a:rPr sz="2200">
                <a:solidFill>
                  <a:srgbClr val="008000"/>
                </a:solidFill>
                <a:latin typeface="Consolas"/>
              </a:rPr>
              <a:t>git commit -m "..."</a:t>
            </a:r>
            <a:r>
              <a:rPr sz="2200">
                <a:latin typeface="Microsoft Sans Serif"/>
              </a:rPr>
              <a:t>    Record the snapshot</a:t>
            </a:r>
          </a:p>
          <a:p>
            <a:pPr>
              <a:spcBef>
                <a:spcPts val="1000"/>
              </a:spcBef>
            </a:pPr>
            <a:r>
              <a:rPr sz="2200">
                <a:solidFill>
                  <a:srgbClr val="008000"/>
                </a:solidFill>
                <a:latin typeface="Consolas"/>
              </a:rPr>
              <a:t>git push</a:t>
            </a:r>
            <a:r>
              <a:rPr sz="2200">
                <a:latin typeface="Microsoft Sans Serif"/>
              </a:rPr>
              <a:t>    Upload to GitHub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extBox 7">
            <a:extLst>
              <a:ext uri="{FF2B5EF4-FFF2-40B4-BE49-F238E27FC236}">
                <a16:creationId xmlns:a16="http://schemas.microsoft.com/office/drawing/2014/main" id="{D2F36552-AE59-007E-B2F0-2DBF521244AB}"/>
              </a:ext>
            </a:extLst>
          </p:cNvPr>
          <p:cNvSpPr txBox="1"/>
          <p:nvPr/>
        </p:nvSpPr>
        <p:spPr>
          <a:xfrm>
            <a:off x="1317" y="133326"/>
            <a:ext cx="4443563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6478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92956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89433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585911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482389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78867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275344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171822" algn="l" defTabSz="1792956" rtl="0" eaLnBrk="1" latinLnBrk="0" hangingPunct="1">
              <a:defRPr sz="35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Yale SCHOOL OF THE ENVIRONMENT</a:t>
            </a:r>
          </a:p>
          <a:p>
            <a:r>
              <a:rPr lang="en-US" sz="1600" b="1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          </a:t>
            </a:r>
            <a:r>
              <a:rPr lang="en-US" sz="1600" i="1" dirty="0">
                <a:solidFill>
                  <a:srgbClr val="00356B"/>
                </a:solidFill>
                <a:latin typeface="Yale"/>
                <a:ea typeface="Agrandir Narrow Bold"/>
                <a:cs typeface="Agrandir Narrow Bold"/>
                <a:sym typeface="Agrandir Narrow Bold"/>
              </a:rPr>
              <a:t>Research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58D8DB-5CEB-50D8-B068-75728660E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3" b="98039" l="1654" r="98092">
                        <a14:foregroundMark x1="22010" y1="7734" x2="27226" y2="9695"/>
                        <a14:foregroundMark x1="4580" y1="3050" x2="16158" y2="6100"/>
                        <a14:foregroundMark x1="16285" y1="46950" x2="23791" y2="61765"/>
                        <a14:foregroundMark x1="81679" y1="51961" x2="79771" y2="60240"/>
                        <a14:foregroundMark x1="90204" y1="28214" x2="96056" y2="30065"/>
                        <a14:foregroundMark x1="94275" y1="2614" x2="96947" y2="2941"/>
                        <a14:foregroundMark x1="82570" y1="1743" x2="82570" y2="1743"/>
                        <a14:foregroundMark x1="98092" y1="37255" x2="98092" y2="37255"/>
                        <a14:foregroundMark x1="58524" y1="93682" x2="58524" y2="93682"/>
                        <a14:foregroundMark x1="50127" y1="98148" x2="50127" y2="98148"/>
                        <a14:foregroundMark x1="29008" y1="87691" x2="29008" y2="87691"/>
                        <a14:foregroundMark x1="7888" y1="63508" x2="8142" y2="65251"/>
                        <a14:foregroundMark x1="1654" y1="29085" x2="1654" y2="29085"/>
                        <a14:foregroundMark x1="2036" y1="26580" x2="2036" y2="26580"/>
                        <a14:foregroundMark x1="5852" y1="60022" x2="5852" y2="60022"/>
                        <a14:foregroundMark x1="16285" y1="76144" x2="16285" y2="76144"/>
                        <a14:foregroundMark x1="1654" y1="38562" x2="1654" y2="38562"/>
                        <a14:foregroundMark x1="2417" y1="49564" x2="2417" y2="49564"/>
                        <a14:foregroundMark x1="2926" y1="50000" x2="2926" y2="50000"/>
                        <a14:foregroundMark x1="3944" y1="54031" x2="3944" y2="54031"/>
                        <a14:foregroundMark x1="1908" y1="35839" x2="1908" y2="35839"/>
                        <a14:foregroundMark x1="59033" y1="28214" x2="59033" y2="28214"/>
                        <a14:foregroundMark x1="50254" y1="25817" x2="50254" y2="25817"/>
                        <a14:foregroundMark x1="41476" y1="27451" x2="41349" y2="27560"/>
                        <a14:foregroundMark x1="42621" y1="25708" x2="42621" y2="25708"/>
                        <a14:foregroundMark x1="41094" y1="24619" x2="41094" y2="24619"/>
                        <a14:foregroundMark x1="39440" y1="25817" x2="39440" y2="25817"/>
                        <a14:foregroundMark x1="48346" y1="23203" x2="48346" y2="23203"/>
                        <a14:foregroundMark x1="49746" y1="21895" x2="49746" y2="21895"/>
                        <a14:foregroundMark x1="51399" y1="23094" x2="51399" y2="23094"/>
                        <a14:foregroundMark x1="57506" y1="25599" x2="57506" y2="25599"/>
                        <a14:foregroundMark x1="58524" y1="24510" x2="58524" y2="24510"/>
                        <a14:foregroundMark x1="60051" y1="25272" x2="60051" y2="25272"/>
                        <a14:foregroundMark x1="77735" y1="17538" x2="77735" y2="17538"/>
                        <a14:foregroundMark x1="76463" y1="14924" x2="76463" y2="14924"/>
                        <a14:foregroundMark x1="78117" y1="13834" x2="78117" y2="13834"/>
                        <a14:foregroundMark x1="79644" y1="15033" x2="79644" y2="15033"/>
                        <a14:foregroundMark x1="91094" y1="13834" x2="91094" y2="13834"/>
                        <a14:foregroundMark x1="91985" y1="18192" x2="91985" y2="18192"/>
                        <a14:foregroundMark x1="90331" y1="19390" x2="90331" y2="19390"/>
                        <a14:foregroundMark x1="92112" y1="21242" x2="92112" y2="21242"/>
                        <a14:foregroundMark x1="93639" y1="19390" x2="93511" y2="19390"/>
                        <a14:foregroundMark x1="97583" y1="20044" x2="97583" y2="20044"/>
                        <a14:foregroundMark x1="97710" y1="48475" x2="97710" y2="48475"/>
                        <a14:foregroundMark x1="80407" y1="79194" x2="80407" y2="79194"/>
                        <a14:foregroundMark x1="89567" y1="68519" x2="89567" y2="68519"/>
                        <a14:foregroundMark x1="93766" y1="60566" x2="93766" y2="60566"/>
                        <a14:foregroundMark x1="96056" y1="55338" x2="96056" y2="55338"/>
                        <a14:foregroundMark x1="40712" y1="7298" x2="40712" y2="7298"/>
                        <a14:foregroundMark x1="21883" y1="17538" x2="21883" y2="17538"/>
                        <a14:foregroundMark x1="7634" y1="22004" x2="7634" y2="22004"/>
                        <a14:foregroundMark x1="9542" y1="13399" x2="9542" y2="13399"/>
                        <a14:foregroundMark x1="49364" y1="10022" x2="49364" y2="10022"/>
                        <a14:foregroundMark x1="58651" y1="7190" x2="58651" y2="7190"/>
                        <a14:foregroundMark x1="57379" y1="4575" x2="57379" y2="4575"/>
                        <a14:foregroundMark x1="58779" y1="3486" x2="58779" y2="3486"/>
                        <a14:foregroundMark x1="60433" y1="4684" x2="60433" y2="4684"/>
                        <a14:foregroundMark x1="49873" y1="6209" x2="49873" y2="6209"/>
                        <a14:foregroundMark x1="51145" y1="7081" x2="51145" y2="7081"/>
                        <a14:foregroundMark x1="48473" y1="7081" x2="48473" y2="7081"/>
                        <a14:foregroundMark x1="40712" y1="3268" x2="40712" y2="3268"/>
                        <a14:foregroundMark x1="42112" y1="4575" x2="42112" y2="4575"/>
                        <a14:foregroundMark x1="39313" y1="4575" x2="39313" y2="4575"/>
                        <a14:foregroundMark x1="21501" y1="13943" x2="21501" y2="13943"/>
                        <a14:foregroundMark x1="20102" y1="15142" x2="20102" y2="15142"/>
                        <a14:foregroundMark x1="23155" y1="14815" x2="23155" y2="14815"/>
                        <a14:foregroundMark x1="8906" y1="9586" x2="8906" y2="9586"/>
                        <a14:foregroundMark x1="10814" y1="10784" x2="10814" y2="10784"/>
                        <a14:foregroundMark x1="7888" y1="10675" x2="7888" y2="10675"/>
                        <a14:foregroundMark x1="7634" y1="18301" x2="7634" y2="18301"/>
                        <a14:foregroundMark x1="9415" y1="19499" x2="9415" y2="19499"/>
                        <a14:foregroundMark x1="6489" y1="19390" x2="6489" y2="1939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37235" y="41386"/>
            <a:ext cx="764529" cy="8929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8110" y="987903"/>
            <a:ext cx="1092641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3200" b="1">
                <a:solidFill>
                  <a:srgbClr val="00356B"/>
                </a:solidFill>
                <a:latin typeface="Microsoft Sans Serif"/>
              </a:rPr>
              <a:t>What's Next?</a:t>
            </a:r>
          </a:p>
          <a:p>
            <a:pPr>
              <a:spcBef>
                <a:spcPts val="800"/>
              </a:spcBef>
            </a:pPr>
            <a:r>
              <a:rPr sz="2200">
                <a:latin typeface="Microsoft Sans Serif"/>
              </a:rPr>
              <a:t>•  Customize your site: colors, sections, interactivity</a:t>
            </a:r>
          </a:p>
          <a:p>
            <a:pPr>
              <a:spcBef>
                <a:spcPts val="800"/>
              </a:spcBef>
            </a:pPr>
            <a:r>
              <a:rPr sz="2200">
                <a:latin typeface="Microsoft Sans Serif"/>
              </a:rPr>
              <a:t>•  Learn branching: git branch, git checkout, git merge</a:t>
            </a:r>
          </a:p>
          <a:p>
            <a:pPr>
              <a:spcBef>
                <a:spcPts val="800"/>
              </a:spcBef>
            </a:pPr>
            <a:r>
              <a:rPr sz="2200">
                <a:latin typeface="Microsoft Sans Serif"/>
              </a:rPr>
              <a:t>•  Explore collaboration: Issues, Pull Requests</a:t>
            </a:r>
          </a:p>
          <a:p>
            <a:pPr>
              <a:spcBef>
                <a:spcPts val="800"/>
              </a:spcBef>
            </a:pPr>
            <a:r>
              <a:rPr sz="2200">
                <a:latin typeface="Microsoft Sans Serif"/>
              </a:rPr>
              <a:t>•  Add a custom domain to your GitHub Pages site</a:t>
            </a:r>
          </a:p>
          <a:p>
            <a:pPr>
              <a:spcBef>
                <a:spcPts val="2000"/>
              </a:spcBef>
            </a:pPr>
            <a:r>
              <a:rPr sz="2800" b="1">
                <a:solidFill>
                  <a:srgbClr val="00356B"/>
                </a:solidFill>
                <a:latin typeface="Microsoft Sans Serif"/>
              </a:rPr>
              <a:t>Resources:</a:t>
            </a:r>
          </a:p>
          <a:p>
            <a:pPr>
              <a:spcBef>
                <a:spcPts val="600"/>
              </a:spcBef>
            </a:pPr>
            <a:r>
              <a:rPr sz="2000">
                <a:latin typeface="Microsoft Sans Serif"/>
              </a:rPr>
              <a:t>•  GitHub Skills: skills.github.com</a:t>
            </a:r>
          </a:p>
          <a:p>
            <a:pPr>
              <a:spcBef>
                <a:spcPts val="600"/>
              </a:spcBef>
            </a:pPr>
            <a:r>
              <a:rPr sz="2000">
                <a:latin typeface="Microsoft Sans Serif"/>
              </a:rPr>
              <a:t>•  Pro Git Book: git-scm.com/book</a:t>
            </a:r>
          </a:p>
          <a:p>
            <a:pPr>
              <a:spcBef>
                <a:spcPts val="600"/>
              </a:spcBef>
            </a:pPr>
            <a:r>
              <a:rPr sz="2000">
                <a:latin typeface="Microsoft Sans Serif"/>
              </a:rPr>
              <a:t>•  GitHub Pages Docs: docs.github.com/pages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