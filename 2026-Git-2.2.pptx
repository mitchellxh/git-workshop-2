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0" r:id="rId3"/>
    <p:sldId id="281" r:id="rId4"/>
    <p:sldId id="282" r:id="rId5"/>
    <p:sldId id="286" r:id="rId6"/>
    <p:sldId id="283" r:id="rId7"/>
    <p:sldId id="287" r:id="rId8"/>
    <p:sldId id="285" r:id="rId9"/>
    <p:sldId id="263" r:id="rId10"/>
    <p:sldId id="290" r:id="rId11"/>
    <p:sldId id="293" r:id="rId12"/>
    <p:sldId id="294" r:id="rId13"/>
    <p:sldId id="295" r:id="rId14"/>
    <p:sldId id="296" r:id="rId15"/>
    <p:sldId id="297" r:id="rId16"/>
    <p:sldId id="288" r:id="rId17"/>
    <p:sldId id="265" r:id="rId18"/>
    <p:sldId id="266" r:id="rId19"/>
    <p:sldId id="267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B4E56E-F527-B938-8D84-CE793ACD3F96}" v="3087" dt="2026-03-24T14:49:52.4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https://github.com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9.svg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5.png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5.pn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git@github.com:YOUR_USERNAME/my-first-website.git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with a screen on it surrounded by leaves&#10;&#10;AI-generated content may be incorrect.">
            <a:extLst>
              <a:ext uri="{FF2B5EF4-FFF2-40B4-BE49-F238E27FC236}">
                <a16:creationId xmlns:a16="http://schemas.microsoft.com/office/drawing/2014/main" id="{7FC5F704-5A79-CAA5-95C3-8B0E02699C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595" r="54" b="-105"/>
          <a:stretch>
            <a:fillRect/>
          </a:stretch>
        </p:blipFill>
        <p:spPr>
          <a:xfrm>
            <a:off x="975583" y="822739"/>
            <a:ext cx="10191144" cy="5384202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8730" y="4621696"/>
            <a:ext cx="9144000" cy="15234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5400" b="1">
                <a:solidFill>
                  <a:srgbClr val="00356B"/>
                </a:solidFill>
                <a:latin typeface="Gautami"/>
              </a:rPr>
              <a:t>GitHub Workshop</a:t>
            </a:r>
            <a:r>
              <a:rPr lang="en-US" sz="5400" b="1">
                <a:solidFill>
                  <a:srgbClr val="00356B"/>
                </a:solidFill>
                <a:latin typeface="Gautami"/>
              </a:rPr>
              <a:t> II</a:t>
            </a:r>
            <a:endParaRPr sz="5400" b="1">
              <a:solidFill>
                <a:srgbClr val="00356B"/>
              </a:solidFill>
              <a:latin typeface="Gautami"/>
            </a:endParaRPr>
          </a:p>
          <a:p>
            <a:pPr algn="ctr">
              <a:spcBef>
                <a:spcPts val="1800"/>
              </a:spcBef>
            </a:pPr>
            <a:r>
              <a:rPr sz="2400">
                <a:solidFill>
                  <a:srgbClr val="333333"/>
                </a:solidFill>
                <a:latin typeface="Microsoft Sans Serif"/>
              </a:rPr>
              <a:t>Spring 2026</a:t>
            </a:r>
          </a:p>
        </p:txBody>
      </p:sp>
      <p:pic>
        <p:nvPicPr>
          <p:cNvPr id="2" name="Picture 1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7C6A8499-2D68-4B4D-1B8A-7DB52F9BC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47705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0"/>
              </a:spcBef>
            </a:pPr>
            <a:r>
              <a:rPr sz="2400" b="1">
                <a:latin typeface="Microsoft Sans Serif"/>
              </a:rPr>
              <a:t>Who?</a:t>
            </a:r>
            <a:endParaRPr lang="en-US" sz="2400" b="1">
              <a:latin typeface="Microsoft Sans Serif"/>
              <a:ea typeface="Microsoft Sans Serif"/>
              <a:cs typeface="Microsoft Sans Serif"/>
            </a:endParaRPr>
          </a:p>
          <a:p>
            <a:pPr marL="800100" lvl="1" indent="-342900">
              <a:buFont typeface="Courier New"/>
              <a:buChar char="o"/>
            </a:pPr>
            <a:r>
              <a:rPr sz="2400">
                <a:latin typeface="Microsoft Sans Serif"/>
              </a:rPr>
              <a:t>Mitchell Horn, Senior Research Data Analyst, YSE</a:t>
            </a:r>
            <a:endParaRPr sz="2400">
              <a:latin typeface="Microsoft Sans Serif"/>
              <a:ea typeface="Microsoft Sans Serif"/>
              <a:cs typeface="Microsoft Sans Serif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>
                <a:latin typeface="Microsoft Sans Serif"/>
                <a:ea typeface="Microsoft Sans Serif"/>
                <a:cs typeface="Microsoft Sans Serif"/>
              </a:rPr>
              <a:t>Stanley Tan, Research Data Support, YSE</a:t>
            </a:r>
            <a:endParaRPr lang="en-US" sz="2400" dirty="0">
              <a:latin typeface="Microsoft Sans Serif"/>
            </a:endParaRPr>
          </a:p>
          <a:p>
            <a:pPr>
              <a:spcBef>
                <a:spcPts val="1200"/>
              </a:spcBef>
            </a:pPr>
            <a:r>
              <a:rPr sz="2400" b="1">
                <a:latin typeface="Microsoft Sans Serif"/>
              </a:rPr>
              <a:t>What?</a:t>
            </a:r>
            <a:endParaRPr sz="2400" b="1">
              <a:latin typeface="Microsoft Sans Serif"/>
              <a:ea typeface="Microsoft Sans Serif"/>
              <a:cs typeface="Microsoft Sans Serif"/>
            </a:endParaRPr>
          </a:p>
          <a:p>
            <a:pPr marL="800100" lvl="1" indent="-342900">
              <a:buFont typeface="Courier New"/>
              <a:buChar char="o"/>
            </a:pPr>
            <a:r>
              <a:rPr sz="2400">
                <a:latin typeface="Microsoft Sans Serif"/>
              </a:rPr>
              <a:t>Git &amp; GitHub – Part 2</a:t>
            </a:r>
            <a:endParaRPr sz="2400"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1200"/>
              </a:spcBef>
            </a:pPr>
            <a:r>
              <a:rPr sz="2400" b="1">
                <a:latin typeface="Microsoft Sans Serif"/>
              </a:rPr>
              <a:t>Why?</a:t>
            </a:r>
            <a:endParaRPr sz="2400" b="1">
              <a:latin typeface="Microsoft Sans Serif"/>
              <a:ea typeface="Microsoft Sans Serif"/>
              <a:cs typeface="Microsoft Sans Serif"/>
            </a:endParaRPr>
          </a:p>
          <a:p>
            <a:pPr marL="800100" lvl="1" indent="-342900">
              <a:buFont typeface="Courier New"/>
              <a:buChar char="o"/>
            </a:pPr>
            <a:r>
              <a:rPr sz="2400">
                <a:latin typeface="Microsoft Sans Serif"/>
              </a:rPr>
              <a:t>Connect your computer to GitHub and publish your work</a:t>
            </a:r>
            <a:endParaRPr sz="2400"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1200"/>
              </a:spcBef>
            </a:pPr>
            <a:r>
              <a:rPr sz="2400" b="1">
                <a:latin typeface="Microsoft Sans Serif"/>
              </a:rPr>
              <a:t>How?</a:t>
            </a:r>
            <a:endParaRPr sz="2400" b="1">
              <a:latin typeface="Microsoft Sans Serif"/>
              <a:ea typeface="Microsoft Sans Serif"/>
              <a:cs typeface="Microsoft Sans Serif"/>
            </a:endParaRPr>
          </a:p>
          <a:p>
            <a:pPr marL="800100" lvl="1" indent="-342900">
              <a:buFont typeface="Courier New"/>
              <a:buChar char="o"/>
            </a:pPr>
            <a:r>
              <a:rPr sz="2400">
                <a:latin typeface="Microsoft Sans Serif"/>
              </a:rPr>
              <a:t>Hands-on: SSH setup, git commands, and GitHub Pages</a:t>
            </a:r>
            <a:endParaRPr sz="2400"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1200"/>
              </a:spcBef>
            </a:pPr>
            <a:r>
              <a:rPr sz="2400" b="1">
                <a:latin typeface="Microsoft Sans Serif"/>
              </a:rPr>
              <a:t>Goal?</a:t>
            </a:r>
            <a:endParaRPr sz="2400" b="1">
              <a:latin typeface="Microsoft Sans Serif"/>
              <a:ea typeface="Microsoft Sans Serif"/>
              <a:cs typeface="Microsoft Sans Serif"/>
            </a:endParaRPr>
          </a:p>
          <a:p>
            <a:pPr marL="800100" lvl="1" indent="-342900">
              <a:buFont typeface="Courier New"/>
              <a:buChar char="o"/>
            </a:pPr>
            <a:r>
              <a:rPr sz="2400">
                <a:latin typeface="Microsoft Sans Serif"/>
              </a:rPr>
              <a:t>Your own live website at github.io</a:t>
            </a:r>
            <a:endParaRPr sz="240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41E99FEF-8165-CEF6-FE5C-682B63076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55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575" y="686986"/>
            <a:ext cx="10926415" cy="60016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Recap: Part 1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spcBef>
                <a:spcPts val="600"/>
              </a:spcBef>
              <a:buFont typeface="Courier New"/>
              <a:buChar char="o"/>
            </a:pPr>
            <a:r>
              <a:rPr lang="en-US" sz="2200">
                <a:latin typeface="Microsoft Sans Serif"/>
              </a:rPr>
              <a:t>Created</a:t>
            </a:r>
            <a:r>
              <a:rPr sz="2200" dirty="0">
                <a:latin typeface="Microsoft Sans Serif"/>
              </a:rPr>
              <a:t> a GitHub account</a:t>
            </a:r>
            <a:endParaRPr sz="2200" dirty="0">
              <a:latin typeface="Microsoft Sans Serif"/>
              <a:ea typeface="Microsoft Sans Serif"/>
              <a:cs typeface="Microsoft Sans Serif"/>
            </a:endParaRPr>
          </a:p>
          <a:p>
            <a:pPr marL="800100" lvl="1" indent="-342900">
              <a:spcBef>
                <a:spcPts val="600"/>
              </a:spcBef>
              <a:buFont typeface="Courier New"/>
              <a:buChar char="o"/>
            </a:pPr>
            <a:endParaRPr lang="en-US" sz="2200" dirty="0">
              <a:latin typeface="Microsoft Sans Serif"/>
            </a:endParaRPr>
          </a:p>
          <a:p>
            <a:pPr marL="800100" lvl="1" indent="-342900">
              <a:spcBef>
                <a:spcPts val="600"/>
              </a:spcBef>
              <a:buFont typeface="Courier New"/>
              <a:buChar char="o"/>
            </a:pPr>
            <a:r>
              <a:rPr sz="2200">
                <a:latin typeface="Microsoft Sans Serif"/>
              </a:rPr>
              <a:t>Set up GitHub Education benefits</a:t>
            </a:r>
            <a:endParaRPr sz="2200">
              <a:latin typeface="Microsoft Sans Serif"/>
              <a:ea typeface="Microsoft Sans Serif"/>
              <a:cs typeface="Microsoft Sans Serif"/>
            </a:endParaRPr>
          </a:p>
          <a:p>
            <a:pPr marL="800100" lvl="1" indent="-342900">
              <a:spcBef>
                <a:spcPts val="600"/>
              </a:spcBef>
              <a:buFont typeface="Courier New"/>
              <a:buChar char="o"/>
            </a:pPr>
            <a:endParaRPr lang="en-US" sz="2200" dirty="0">
              <a:latin typeface="Microsoft Sans Serif"/>
            </a:endParaRPr>
          </a:p>
          <a:p>
            <a:pPr marL="800100" lvl="1" indent="-342900">
              <a:spcBef>
                <a:spcPts val="600"/>
              </a:spcBef>
              <a:buFont typeface="Courier New"/>
              <a:buChar char="o"/>
            </a:pPr>
            <a:r>
              <a:rPr sz="2200">
                <a:latin typeface="Microsoft Sans Serif"/>
              </a:rPr>
              <a:t>Used the GitHub web interface:</a:t>
            </a:r>
            <a:endParaRPr lang="en-US" sz="2200">
              <a:latin typeface="Microsoft Sans Serif"/>
              <a:ea typeface="Microsoft Sans Serif"/>
              <a:cs typeface="Microsoft Sans Serif"/>
            </a:endParaRPr>
          </a:p>
          <a:p>
            <a:pPr marL="1257300" lvl="2" indent="-342900">
              <a:spcBef>
                <a:spcPts val="600"/>
              </a:spcBef>
              <a:buFont typeface="Wingdings"/>
              <a:buChar char="§"/>
            </a:pPr>
            <a:r>
              <a:rPr sz="2200">
                <a:latin typeface="Microsoft Sans Serif"/>
              </a:rPr>
              <a:t>Created repositories (public vs. </a:t>
            </a:r>
            <a:r>
              <a:rPr lang="en-US" sz="2200">
                <a:latin typeface="Microsoft Sans Serif"/>
              </a:rPr>
              <a:t>private)</a:t>
            </a:r>
            <a:endParaRPr lang="en-US" sz="2200">
              <a:latin typeface="Microsoft Sans Serif"/>
              <a:ea typeface="Microsoft Sans Serif"/>
              <a:cs typeface="Microsoft Sans Serif"/>
            </a:endParaRPr>
          </a:p>
          <a:p>
            <a:pPr marL="1257300" lvl="2" indent="-342900">
              <a:spcBef>
                <a:spcPts val="600"/>
              </a:spcBef>
              <a:buFont typeface="Wingdings"/>
              <a:buChar char="§"/>
            </a:pPr>
            <a:r>
              <a:rPr lang="en-US" sz="2200">
                <a:latin typeface="Microsoft Sans Serif"/>
              </a:rPr>
              <a:t>Created</a:t>
            </a:r>
            <a:r>
              <a:rPr sz="2200">
                <a:latin typeface="Microsoft Sans Serif"/>
              </a:rPr>
              <a:t> and edited files in the </a:t>
            </a:r>
            <a:r>
              <a:rPr lang="en-US" sz="2200">
                <a:latin typeface="Microsoft Sans Serif"/>
              </a:rPr>
              <a:t>browser</a:t>
            </a:r>
            <a:endParaRPr lang="en-US" sz="2200">
              <a:latin typeface="Microsoft Sans Serif"/>
              <a:ea typeface="Microsoft Sans Serif"/>
              <a:cs typeface="Microsoft Sans Serif"/>
            </a:endParaRPr>
          </a:p>
          <a:p>
            <a:pPr marL="1257300" lvl="2" indent="-342900">
              <a:spcBef>
                <a:spcPts val="600"/>
              </a:spcBef>
              <a:buFont typeface="Wingdings"/>
              <a:buChar char="§"/>
            </a:pPr>
            <a:r>
              <a:rPr lang="en-US" sz="2200">
                <a:latin typeface="Microsoft Sans Serif"/>
              </a:rPr>
              <a:t>Starred</a:t>
            </a:r>
            <a:r>
              <a:rPr sz="2200">
                <a:latin typeface="Microsoft Sans Serif"/>
              </a:rPr>
              <a:t> and forked repositories</a:t>
            </a:r>
            <a:endParaRPr sz="2200">
              <a:latin typeface="Microsoft Sans Serif"/>
              <a:ea typeface="Microsoft Sans Serif"/>
              <a:cs typeface="Microsoft Sans Serif"/>
            </a:endParaRPr>
          </a:p>
          <a:p>
            <a:pPr marL="800100" lvl="1" indent="-342900">
              <a:spcBef>
                <a:spcPts val="600"/>
              </a:spcBef>
              <a:buFont typeface="Courier New"/>
              <a:buChar char="o"/>
            </a:pPr>
            <a:endParaRPr lang="en-US" sz="2200" dirty="0">
              <a:latin typeface="Microsoft Sans Serif"/>
            </a:endParaRPr>
          </a:p>
          <a:p>
            <a:pPr marL="800100" lvl="1" indent="-342900">
              <a:spcBef>
                <a:spcPts val="600"/>
              </a:spcBef>
              <a:buFont typeface="Courier New"/>
              <a:buChar char="o"/>
            </a:pPr>
            <a:r>
              <a:rPr lang="en-US" sz="2200" dirty="0">
                <a:latin typeface="Microsoft Sans Serif"/>
              </a:rPr>
              <a:t> </a:t>
            </a:r>
            <a:r>
              <a:rPr sz="2200">
                <a:latin typeface="Microsoft Sans Serif"/>
              </a:rPr>
              <a:t>Learned key terms: repository, branch, main, README</a:t>
            </a:r>
            <a:endParaRPr sz="2200"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1800"/>
              </a:spcBef>
            </a:pPr>
            <a:endParaRPr lang="en-US" sz="2600" b="1" dirty="0">
              <a:solidFill>
                <a:srgbClr val="00356B"/>
              </a:solidFill>
              <a:latin typeface="Microsoft Sans Serif"/>
            </a:endParaRPr>
          </a:p>
          <a:p>
            <a:pPr>
              <a:spcBef>
                <a:spcPts val="1800"/>
              </a:spcBef>
            </a:pPr>
            <a:r>
              <a:rPr sz="2600" b="1">
                <a:solidFill>
                  <a:srgbClr val="00356B"/>
                </a:solidFill>
                <a:latin typeface="Microsoft Sans Serif"/>
              </a:rPr>
              <a:t>Today: we leave the browser and work from the command line.</a:t>
            </a:r>
            <a:endParaRPr>
              <a:ea typeface="Calibri"/>
              <a:cs typeface="Calibri"/>
            </a:endParaRP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E9779551-3702-5EB3-403C-051EDA801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8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989" y="686986"/>
            <a:ext cx="10926415" cy="535018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/>
          </a:p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Before We Start</a:t>
            </a:r>
          </a:p>
          <a:p>
            <a:pPr>
              <a:spcBef>
                <a:spcPts val="1800"/>
              </a:spcBef>
            </a:pPr>
            <a:r>
              <a:rPr sz="2800" b="1">
                <a:latin typeface="Microsoft Sans Serif"/>
              </a:rPr>
              <a:t>1.  </a:t>
            </a:r>
            <a:r>
              <a:rPr sz="2800">
                <a:latin typeface="Microsoft Sans Serif"/>
              </a:rPr>
              <a:t>You have a GitHub account and can log in</a:t>
            </a:r>
          </a:p>
          <a:p>
            <a:pPr>
              <a:spcBef>
                <a:spcPts val="1800"/>
              </a:spcBef>
            </a:pPr>
            <a:endParaRPr lang="en-US" sz="2800" dirty="0">
              <a:latin typeface="Microsoft Sans Serif"/>
            </a:endParaRPr>
          </a:p>
          <a:p>
            <a:pPr>
              <a:spcBef>
                <a:spcPts val="1400"/>
              </a:spcBef>
            </a:pPr>
            <a:r>
              <a:rPr sz="2800" b="1">
                <a:latin typeface="Microsoft Sans Serif"/>
              </a:rPr>
              <a:t>2.  </a:t>
            </a:r>
            <a:r>
              <a:rPr sz="2800">
                <a:latin typeface="Microsoft Sans Serif"/>
              </a:rPr>
              <a:t>You have a terminal with git installed</a:t>
            </a:r>
          </a:p>
          <a:p>
            <a:pPr>
              <a:spcBef>
                <a:spcPts val="600"/>
              </a:spcBef>
            </a:pPr>
            <a:r>
              <a:rPr lang="en-US" sz="2200">
                <a:solidFill>
                  <a:srgbClr val="666666"/>
                </a:solidFill>
                <a:latin typeface="Microsoft Sans Serif"/>
              </a:rPr>
              <a:t>  </a:t>
            </a:r>
            <a:r>
              <a:rPr sz="2200">
                <a:solidFill>
                  <a:srgbClr val="666666"/>
                </a:solidFill>
                <a:latin typeface="Microsoft Sans Serif"/>
              </a:rPr>
              <a:t>Recommended: get an interactive session on YCRC Bouchet</a:t>
            </a:r>
          </a:p>
          <a:p>
            <a:pPr>
              <a:spcBef>
                <a:spcPts val="1800"/>
              </a:spcBef>
            </a:pPr>
            <a:endParaRPr lang="en-US" sz="2200" dirty="0">
              <a:latin typeface="Microsoft Sans Serif"/>
            </a:endParaRPr>
          </a:p>
          <a:p>
            <a:pPr>
              <a:spcBef>
                <a:spcPts val="1800"/>
              </a:spcBef>
            </a:pPr>
            <a:r>
              <a:rPr sz="2200">
                <a:latin typeface="Microsoft Sans Serif"/>
              </a:rPr>
              <a:t>To check if git is installed:</a:t>
            </a:r>
            <a:endParaRPr/>
          </a:p>
          <a:p>
            <a:pPr>
              <a:spcBef>
                <a:spcPts val="6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git --version</a:t>
            </a:r>
          </a:p>
          <a:p>
            <a:pPr>
              <a:spcBef>
                <a:spcPts val="2400"/>
              </a:spcBef>
            </a:pPr>
            <a:endParaRPr dirty="0"/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87FCAA3D-927C-0972-2869-195B5D481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320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17C87-5A21-FC32-76B9-17E9E4418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8F92F691-BBED-1CE9-9502-4BE6DE471048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35565-FF26-489F-EFA2-F14B15102983}"/>
              </a:ext>
            </a:extLst>
          </p:cNvPr>
          <p:cNvSpPr txBox="1"/>
          <p:nvPr/>
        </p:nvSpPr>
        <p:spPr>
          <a:xfrm>
            <a:off x="424980" y="689729"/>
            <a:ext cx="10926415" cy="42319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b="1">
                <a:solidFill>
                  <a:srgbClr val="00356B"/>
                </a:solidFill>
                <a:latin typeface="Microsoft Sans Serif"/>
              </a:rPr>
              <a:t>YCRC Bouchet Interactive Session</a:t>
            </a:r>
            <a:endParaRPr lang="en-US" sz="3200" b="1">
              <a:solidFill>
                <a:srgbClr val="00356B"/>
              </a:solidFill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1800"/>
              </a:spcBef>
            </a:pPr>
            <a:r>
              <a:rPr sz="2800" b="1" dirty="0">
                <a:latin typeface="Microsoft Sans Serif"/>
              </a:rPr>
              <a:t>1. </a:t>
            </a:r>
            <a:r>
              <a:rPr lang="en-US" sz="2800" dirty="0">
                <a:ea typeface="+mn-lt"/>
                <a:cs typeface="+mn-lt"/>
              </a:rPr>
              <a:t>ood-bouchet.ycrc.yale.edu </a:t>
            </a:r>
            <a:r>
              <a:rPr lang="en-US" sz="2800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(Yale Network / VPN)</a:t>
            </a:r>
          </a:p>
          <a:p>
            <a:pPr>
              <a:spcBef>
                <a:spcPts val="1400"/>
              </a:spcBef>
            </a:pPr>
            <a:r>
              <a:rPr sz="2800" b="1">
                <a:latin typeface="Microsoft Sans Serif"/>
              </a:rPr>
              <a:t>2.</a:t>
            </a:r>
            <a:r>
              <a:rPr lang="en-US" sz="2800" b="1" dirty="0">
                <a:latin typeface="Microsoft Sans Serif"/>
              </a:rPr>
              <a:t>  </a:t>
            </a:r>
            <a:endParaRPr lang="en-US" sz="2800" dirty="0"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1400"/>
              </a:spcBef>
            </a:pPr>
            <a:endParaRPr lang="en-US" sz="2800" b="1" dirty="0">
              <a:solidFill>
                <a:srgbClr val="000000"/>
              </a:solidFill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1400"/>
              </a:spcBef>
            </a:pPr>
            <a:r>
              <a:rPr lang="en-US" sz="2800" b="1">
                <a:latin typeface="Microsoft Sans Serif"/>
                <a:ea typeface="Microsoft Sans Serif"/>
                <a:cs typeface="Microsoft Sans Serif"/>
              </a:rPr>
              <a:t>3. </a:t>
            </a:r>
            <a:endParaRPr lang="en-US" sz="2800" b="1" dirty="0"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1800"/>
              </a:spcBef>
            </a:pPr>
            <a:endParaRPr lang="en-US" sz="2200" dirty="0"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2400"/>
              </a:spcBef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C8173219-14D8-BD55-843E-C1AFE6E4C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9B260D-AE42-274C-DB3A-DCA410DB48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82" r="-90" b="408"/>
          <a:stretch>
            <a:fillRect/>
          </a:stretch>
        </p:blipFill>
        <p:spPr>
          <a:xfrm>
            <a:off x="1277407" y="2000004"/>
            <a:ext cx="4743595" cy="987604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51974A86-CB0C-BB8C-39BC-0FEA6A597139}"/>
              </a:ext>
            </a:extLst>
          </p:cNvPr>
          <p:cNvSpPr/>
          <p:nvPr/>
        </p:nvSpPr>
        <p:spPr>
          <a:xfrm rot="1440000">
            <a:off x="3882655" y="2449562"/>
            <a:ext cx="978408" cy="280327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 application&#10;&#10;AI-generated content may be incorrect.">
            <a:extLst>
              <a:ext uri="{FF2B5EF4-FFF2-40B4-BE49-F238E27FC236}">
                <a16:creationId xmlns:a16="http://schemas.microsoft.com/office/drawing/2014/main" id="{CD1AE675-32F2-1CD3-641F-3C463EA4C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2" b="6545"/>
          <a:stretch>
            <a:fillRect/>
          </a:stretch>
        </p:blipFill>
        <p:spPr>
          <a:xfrm>
            <a:off x="1891303" y="3115738"/>
            <a:ext cx="3447283" cy="36888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E58B47-D3B6-B15E-8AAC-630BD628EA61}"/>
              </a:ext>
            </a:extLst>
          </p:cNvPr>
          <p:cNvSpPr txBox="1"/>
          <p:nvPr/>
        </p:nvSpPr>
        <p:spPr>
          <a:xfrm>
            <a:off x="6008988" y="3516363"/>
            <a:ext cx="2501348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tx1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 Hours:</a:t>
            </a:r>
            <a:r>
              <a:rPr lang="en-US" sz="2800" dirty="0">
                <a:ea typeface="Calibri"/>
                <a:cs typeface="Calibri"/>
              </a:rPr>
              <a:t> </a:t>
            </a:r>
            <a:r>
              <a:rPr lang="en-US" sz="2800" b="1">
                <a:ea typeface="Calibri"/>
                <a:cs typeface="Calibri"/>
              </a:rPr>
              <a:t>    </a:t>
            </a:r>
            <a:r>
              <a:rPr lang="en-US" sz="2800" b="1" dirty="0">
                <a:ea typeface="Calibri"/>
                <a:cs typeface="Calibri"/>
              </a:rPr>
              <a:t>6</a:t>
            </a:r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82EAFE-3319-82F7-A074-48D067679539}"/>
              </a:ext>
            </a:extLst>
          </p:cNvPr>
          <p:cNvSpPr txBox="1"/>
          <p:nvPr/>
        </p:nvSpPr>
        <p:spPr>
          <a:xfrm>
            <a:off x="6008988" y="4061503"/>
            <a:ext cx="3174998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tx1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 CPUs:</a:t>
            </a:r>
            <a:r>
              <a:rPr lang="en-US" sz="2800" dirty="0">
                <a:ea typeface="Calibri"/>
                <a:cs typeface="Calibri"/>
              </a:rPr>
              <a:t> </a:t>
            </a:r>
            <a:r>
              <a:rPr lang="en-US" sz="2800" b="1">
                <a:ea typeface="Calibri"/>
                <a:cs typeface="Calibri"/>
              </a:rPr>
              <a:t>  2</a:t>
            </a:r>
          </a:p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A2953C-7408-FC34-434A-A057531E55A1}"/>
              </a:ext>
            </a:extLst>
          </p:cNvPr>
          <p:cNvSpPr txBox="1"/>
          <p:nvPr/>
        </p:nvSpPr>
        <p:spPr>
          <a:xfrm>
            <a:off x="6007651" y="4632739"/>
            <a:ext cx="3390346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tx1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 Memory:</a:t>
            </a:r>
            <a:r>
              <a:rPr lang="en-US" sz="2800">
                <a:ea typeface="Calibri"/>
                <a:cs typeface="Calibri"/>
              </a:rPr>
              <a:t>    </a:t>
            </a:r>
            <a:r>
              <a:rPr lang="en-US" sz="2800" b="1">
                <a:ea typeface="Calibri"/>
                <a:cs typeface="Calibri"/>
              </a:rPr>
              <a:t>2</a:t>
            </a:r>
          </a:p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CEE3B68-5507-0B0E-257C-C1A8A071996F}"/>
              </a:ext>
            </a:extLst>
          </p:cNvPr>
          <p:cNvSpPr/>
          <p:nvPr/>
        </p:nvSpPr>
        <p:spPr>
          <a:xfrm rot="10800000">
            <a:off x="3763622" y="5265186"/>
            <a:ext cx="2487846" cy="280327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169D82-5BB0-AD54-7EC5-EF1A140E5D07}"/>
              </a:ext>
            </a:extLst>
          </p:cNvPr>
          <p:cNvSpPr txBox="1"/>
          <p:nvPr/>
        </p:nvSpPr>
        <p:spPr>
          <a:xfrm>
            <a:off x="6005154" y="5146261"/>
            <a:ext cx="3390346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tx1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 Partition:</a:t>
            </a:r>
            <a:r>
              <a:rPr lang="en-US" sz="2800" dirty="0">
                <a:ea typeface="Calibri"/>
                <a:cs typeface="Calibri"/>
              </a:rPr>
              <a:t>    </a:t>
            </a:r>
            <a:r>
              <a:rPr lang="en-US" sz="2800" b="1">
                <a:ea typeface="Calibri"/>
                <a:cs typeface="Calibri"/>
              </a:rPr>
              <a:t>devel</a:t>
            </a:r>
          </a:p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D6F36EA-43B5-2676-683C-946C87FBD4AE}"/>
              </a:ext>
            </a:extLst>
          </p:cNvPr>
          <p:cNvSpPr/>
          <p:nvPr/>
        </p:nvSpPr>
        <p:spPr>
          <a:xfrm rot="10800000">
            <a:off x="3763622" y="4779836"/>
            <a:ext cx="2487846" cy="280327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64830D0-E91E-3883-D741-146DC127D66E}"/>
              </a:ext>
            </a:extLst>
          </p:cNvPr>
          <p:cNvSpPr/>
          <p:nvPr/>
        </p:nvSpPr>
        <p:spPr>
          <a:xfrm rot="10800000">
            <a:off x="3763622" y="4178001"/>
            <a:ext cx="2487846" cy="280327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91C1887-788D-DFCB-A069-7523E3A7D873}"/>
              </a:ext>
            </a:extLst>
          </p:cNvPr>
          <p:cNvSpPr/>
          <p:nvPr/>
        </p:nvSpPr>
        <p:spPr>
          <a:xfrm rot="10800000">
            <a:off x="3763622" y="3687797"/>
            <a:ext cx="2487846" cy="280327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97755D24-A1A9-9C52-FB7B-1534A5245989}"/>
              </a:ext>
            </a:extLst>
          </p:cNvPr>
          <p:cNvSpPr/>
          <p:nvPr/>
        </p:nvSpPr>
        <p:spPr>
          <a:xfrm rot="1440000">
            <a:off x="2475139" y="6254708"/>
            <a:ext cx="978408" cy="280327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01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Where Does GitHub Live?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E07C00"/>
                </a:solidFill>
                <a:latin typeface="Microsoft Sans Serif"/>
              </a:rPr>
              <a:t>[PLACEHOLDER: Copy cloud diagram from Workshop 1, Slides 7-9]</a:t>
            </a: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The cloud providers and where GitHub fits: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•  Microsoft → Azure, GitHub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•  Amazon → AWS, CodeCommit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•  Google → Google Cloud, Colab</a:t>
            </a:r>
          </a:p>
          <a:p>
            <a:pPr>
              <a:spcBef>
                <a:spcPts val="1600"/>
              </a:spcBef>
            </a:pPr>
            <a:r>
              <a:rPr sz="2400" b="1">
                <a:latin typeface="Microsoft Sans Serif"/>
              </a:rPr>
              <a:t>GitHub is a cloud service for storing and sharing code.</a:t>
            </a: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17D93985-2D46-B981-284A-886FE4550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pic>
        <p:nvPicPr>
          <p:cNvPr id="100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13" y="38100"/>
            <a:ext cx="762000" cy="889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F17D76-F71D-3368-2AF6-88A29505F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400010-FEF2-1EAD-45DB-5406098263F7}"/>
              </a:ext>
            </a:extLst>
          </p:cNvPr>
          <p:cNvSpPr txBox="1"/>
          <p:nvPr/>
        </p:nvSpPr>
        <p:spPr>
          <a:xfrm>
            <a:off x="2650012" y="1409943"/>
            <a:ext cx="465936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0356B"/>
                </a:solidFill>
                <a:latin typeface="Microsoft Sans Serif"/>
              </a:rPr>
              <a:t>CLOUD SERVICES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CBD16-87E2-DDA7-A89B-506AE49D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F5C73E5-F1F7-AFD2-851E-BF85E4728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DFCD10-DEC5-8CC1-67D4-434675F0A037}"/>
              </a:ext>
            </a:extLst>
          </p:cNvPr>
          <p:cNvSpPr txBox="1"/>
          <p:nvPr/>
        </p:nvSpPr>
        <p:spPr>
          <a:xfrm>
            <a:off x="2015241" y="1574446"/>
            <a:ext cx="910534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780"/>
            <a:r>
              <a:rPr lang="en-US" sz="2400" u="sng" dirty="0">
                <a:solidFill>
                  <a:srgbClr val="000000"/>
                </a:solidFill>
                <a:latin typeface="Microsoft Sans Serif"/>
                <a:ea typeface="Arial"/>
                <a:cs typeface="Arial"/>
              </a:rPr>
              <a:t>THE CLOUD</a:t>
            </a:r>
            <a:endParaRPr lang="en-US" u="sng" dirty="0">
              <a:ea typeface="Calibri"/>
              <a:cs typeface="Calibri"/>
            </a:endParaRPr>
          </a:p>
          <a:p>
            <a:pPr marL="840740" lvl="1" indent="-365760">
              <a:buFont typeface="Courier New"/>
              <a:buChar char="o"/>
            </a:pPr>
            <a:endParaRPr lang="en-US" sz="2400" dirty="0">
              <a:solidFill>
                <a:srgbClr val="000000"/>
              </a:solidFill>
              <a:latin typeface="Microsoft Sans Serif"/>
              <a:cs typeface="Arial"/>
            </a:endParaRPr>
          </a:p>
          <a:p>
            <a:pPr marL="840740" lvl="1" indent="-365760">
              <a:buFont typeface="Courier New"/>
              <a:buChar char="o"/>
            </a:pPr>
            <a:r>
              <a:rPr lang="en-US" sz="2400">
                <a:solidFill>
                  <a:srgbClr val="000000"/>
                </a:solidFill>
                <a:latin typeface="Microsoft Sans Serif"/>
                <a:cs typeface="Arial"/>
              </a:rPr>
              <a:t>Remote place you store and share your programming work</a:t>
            </a:r>
            <a:endParaRPr lang="en-US">
              <a:ea typeface="Calibri"/>
              <a:cs typeface="Calibri"/>
            </a:endParaRPr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Arial"/>
              </a:rPr>
              <a:t>Owned by Microsoft (circa 2018)</a:t>
            </a:r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Arial"/>
              </a:rPr>
              <a:t>Expansive and </a:t>
            </a:r>
            <a:r>
              <a:rPr lang="en-US" sz="2400" b="1" dirty="0">
                <a:solidFill>
                  <a:srgbClr val="C00000"/>
                </a:solidFill>
                <a:latin typeface="Microsoft Sans Serif"/>
                <a:ea typeface="Microsoft Sans Serif"/>
                <a:cs typeface="Arial"/>
              </a:rPr>
              <a:t>difficult </a:t>
            </a:r>
            <a:r>
              <a:rPr lang="en-US" sz="2400" dirty="0">
                <a:latin typeface="Microsoft Sans Serif"/>
                <a:ea typeface="Microsoft Sans Serif"/>
                <a:cs typeface="Arial"/>
              </a:rPr>
              <a:t>to exhaustively explain</a:t>
            </a:r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ea typeface="+mn-lt"/>
                <a:cs typeface="+mn-lt"/>
                <a:hlinkClick r:id="rId4"/>
              </a:rPr>
              <a:t>https://github.com/</a:t>
            </a:r>
            <a:endParaRPr lang="en-US" sz="2400" dirty="0">
              <a:latin typeface="Microsoft Sans Serif"/>
              <a:cs typeface="Arial"/>
            </a:endParaRPr>
          </a:p>
          <a:p>
            <a:pPr algn="ctr"/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04997532-AC93-7962-7987-AE031C6133E8}"/>
              </a:ext>
            </a:extLst>
          </p:cNvPr>
          <p:cNvSpPr txBox="1"/>
          <p:nvPr/>
        </p:nvSpPr>
        <p:spPr>
          <a:xfrm>
            <a:off x="0" y="41386"/>
            <a:ext cx="491947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5B3C4317-B249-D39C-838E-619B3B578E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6337"/>
          <a:stretch>
            <a:fillRect/>
          </a:stretch>
        </p:blipFill>
        <p:spPr>
          <a:xfrm>
            <a:off x="3865842" y="4532720"/>
            <a:ext cx="3891573" cy="16866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24E80E-E2AF-1F33-44C0-A51BAB1EA6BD}"/>
              </a:ext>
            </a:extLst>
          </p:cNvPr>
          <p:cNvSpPr txBox="1"/>
          <p:nvPr/>
        </p:nvSpPr>
        <p:spPr>
          <a:xfrm>
            <a:off x="414130" y="762000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GitHub</a:t>
            </a:r>
            <a:endParaRPr lang="en-US" sz="3200" b="1" dirty="0">
              <a:solidFill>
                <a:srgbClr val="00356B"/>
              </a:solidFill>
              <a:latin typeface="Microsoft Sans Serif"/>
              <a:ea typeface="Microsoft Sans Serif"/>
              <a:cs typeface="Microsoft Sans Serif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/>
            <a:r>
              <a:rPr sz="5400" b="1">
                <a:latin typeface="Microsoft Sans Serif"/>
              </a:rPr>
              <a:t>git</a:t>
            </a:r>
          </a:p>
          <a:p>
            <a:pPr algn="ctr">
              <a:spcBef>
                <a:spcPts val="600"/>
              </a:spcBef>
            </a:pPr>
            <a:r>
              <a:rPr sz="5400">
                <a:latin typeface="Microsoft Sans Serif"/>
              </a:rPr>
              <a:t>≠</a:t>
            </a:r>
          </a:p>
          <a:p>
            <a:pPr algn="ctr">
              <a:spcBef>
                <a:spcPts val="600"/>
              </a:spcBef>
            </a:pPr>
            <a:r>
              <a:rPr sz="5400" b="1">
                <a:latin typeface="Microsoft Sans Serif"/>
              </a:rPr>
              <a:t>GitHub</a:t>
            </a:r>
          </a:p>
          <a:p>
            <a:pPr>
              <a:spcBef>
                <a:spcPts val="2400"/>
              </a:spcBef>
            </a:pPr>
            <a:r>
              <a:rPr sz="2400" b="1">
                <a:latin typeface="Microsoft Sans Serif"/>
              </a:rPr>
              <a:t>git</a:t>
            </a:r>
            <a:r>
              <a:rPr sz="2400">
                <a:latin typeface="Microsoft Sans Serif"/>
              </a:rPr>
              <a:t>  —  Software installed on your computer. A version control tool.</a:t>
            </a:r>
          </a:p>
          <a:p>
            <a:pPr>
              <a:spcBef>
                <a:spcPts val="1000"/>
              </a:spcBef>
            </a:pPr>
            <a:r>
              <a:rPr sz="2400" b="1">
                <a:latin typeface="Microsoft Sans Serif"/>
              </a:rPr>
              <a:t>GitHub</a:t>
            </a:r>
            <a:r>
              <a:rPr sz="2400">
                <a:latin typeface="Microsoft Sans Serif"/>
              </a:rPr>
              <a:t>  —  A cloud service that hosts git repositories. A website.</a:t>
            </a:r>
          </a:p>
          <a:p>
            <a:pPr algn="ctr">
              <a:spcBef>
                <a:spcPts val="2000"/>
              </a:spcBef>
            </a:pPr>
            <a:r>
              <a:rPr sz="2600" b="1">
                <a:solidFill>
                  <a:srgbClr val="00356B"/>
                </a:solidFill>
                <a:latin typeface="Microsoft Sans Serif"/>
              </a:rPr>
              <a:t>git is how your computer talks to GitHub.</a:t>
            </a: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58710B2E-4D6E-B969-523D-D33DD4C90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pic>
        <p:nvPicPr>
          <p:cNvPr id="100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13" y="38100"/>
            <a:ext cx="762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668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44730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Connecting Your Computer to GitHub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sz="2400">
                <a:latin typeface="Microsoft Sans Serif"/>
              </a:rPr>
              <a:t>To </a:t>
            </a:r>
            <a:r>
              <a:rPr lang="en-US" sz="2400">
                <a:latin typeface="Microsoft Sans Serif"/>
              </a:rPr>
              <a:t>connect your</a:t>
            </a:r>
            <a:r>
              <a:rPr sz="2400">
                <a:latin typeface="Microsoft Sans Serif"/>
              </a:rPr>
              <a:t> computer to GitHub, GitHub needs to verify who you are.</a:t>
            </a:r>
            <a:endParaRPr sz="2400"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1800"/>
              </a:spcBef>
            </a:pPr>
            <a:r>
              <a:rPr sz="2600" b="1">
                <a:latin typeface="Microsoft Sans Serif"/>
              </a:rPr>
              <a:t>Why not just a password?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sz="2200">
                <a:latin typeface="Microsoft Sans Serif"/>
              </a:rPr>
              <a:t>GitHub removed password authentication in August 2021</a:t>
            </a:r>
            <a:endParaRPr sz="2200">
              <a:latin typeface="Microsoft Sans Serif"/>
              <a:ea typeface="Microsoft Sans Serif"/>
              <a:cs typeface="Microsoft Sans Serif"/>
            </a:endParaRPr>
          </a:p>
          <a:p>
            <a:pPr marL="800100" lvl="1" indent="-342900">
              <a:spcBef>
                <a:spcPts val="600"/>
              </a:spcBef>
              <a:buFont typeface="Courier New"/>
              <a:buChar char="o"/>
            </a:pPr>
            <a:r>
              <a:rPr lang="en-US" sz="2200">
                <a:latin typeface="Microsoft Sans Serif"/>
              </a:rPr>
              <a:t>Passwords</a:t>
            </a:r>
            <a:r>
              <a:rPr sz="2200">
                <a:latin typeface="Microsoft Sans Serif"/>
              </a:rPr>
              <a:t> are easily phished and reused across sites</a:t>
            </a:r>
            <a:endParaRPr sz="2200">
              <a:latin typeface="Microsoft Sans Serif"/>
              <a:ea typeface="Microsoft Sans Serif"/>
              <a:cs typeface="Microsoft Sans Serif"/>
            </a:endParaRP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sz="2200">
                <a:latin typeface="Microsoft Sans Serif"/>
              </a:rPr>
              <a:t>SSH keys are cryptographic — far more secure</a:t>
            </a:r>
            <a:endParaRPr sz="2200">
              <a:latin typeface="Microsoft Sans Serif"/>
              <a:ea typeface="Microsoft Sans Serif"/>
              <a:cs typeface="Microsoft Sans Serif"/>
            </a:endParaRPr>
          </a:p>
          <a:p>
            <a:pPr marL="800100" lvl="1" indent="-342900">
              <a:spcBef>
                <a:spcPts val="600"/>
              </a:spcBef>
              <a:buFont typeface="Courier New"/>
              <a:buChar char="o"/>
            </a:pPr>
            <a:r>
              <a:rPr sz="2200">
                <a:latin typeface="Microsoft Sans Serif"/>
              </a:rPr>
              <a:t>Once set up, no need to enter credentials again</a:t>
            </a:r>
            <a:endParaRPr sz="2200">
              <a:latin typeface="Microsoft Sans Serif"/>
              <a:ea typeface="Microsoft Sans Serif"/>
              <a:cs typeface="Microsoft Sans Serif"/>
            </a:endParaRP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Microsoft Sans Serif"/>
                <a:ea typeface="Microsoft Sans Serif"/>
                <a:cs typeface="Microsoft Sans Serif"/>
              </a:rPr>
              <a:t>Tokens expire, need regular management &amp; cycling</a:t>
            </a:r>
            <a:endParaRPr lang="en-US" sz="2200" dirty="0">
              <a:solidFill>
                <a:srgbClr val="000000"/>
              </a:solidFill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1800"/>
              </a:spcBef>
            </a:pPr>
            <a:r>
              <a:rPr sz="2600" b="1" dirty="0">
                <a:solidFill>
                  <a:srgbClr val="00356B"/>
                </a:solidFill>
                <a:latin typeface="Microsoft Sans Serif"/>
              </a:rPr>
              <a:t>Solution: SSH keys — a secure, </a:t>
            </a:r>
            <a:r>
              <a:rPr sz="2600" b="1" dirty="0" err="1">
                <a:solidFill>
                  <a:srgbClr val="00356B"/>
                </a:solidFill>
                <a:latin typeface="Microsoft Sans Serif"/>
              </a:rPr>
              <a:t>passwordless</a:t>
            </a:r>
            <a:r>
              <a:rPr sz="2600" b="1" dirty="0">
                <a:solidFill>
                  <a:srgbClr val="00356B"/>
                </a:solidFill>
                <a:latin typeface="Microsoft Sans Serif"/>
              </a:rPr>
              <a:t> connection.</a:t>
            </a:r>
            <a:endParaRPr sz="2600" b="1" dirty="0">
              <a:solidFill>
                <a:srgbClr val="00356B"/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287B4F4A-1BCF-FA04-04CB-9F45548E4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5736-9B62-4452-D8D9-8E9FE54CF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F635A9C4-79DE-BBB3-1FC7-D4625272CBDD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000057-008F-F702-E499-D83D44C13ACE}"/>
              </a:ext>
            </a:extLst>
          </p:cNvPr>
          <p:cNvSpPr txBox="1"/>
          <p:nvPr/>
        </p:nvSpPr>
        <p:spPr>
          <a:xfrm>
            <a:off x="365746" y="774312"/>
            <a:ext cx="10926415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How SSH Keys Work</a:t>
            </a:r>
            <a:endParaRPr sz="2200" dirty="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9EC2F04A-2AA5-F067-B297-8A6352827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pic>
        <p:nvPicPr>
          <p:cNvPr id="6" name="Graphic 5" descr="Computer with solid fill">
            <a:extLst>
              <a:ext uri="{FF2B5EF4-FFF2-40B4-BE49-F238E27FC236}">
                <a16:creationId xmlns:a16="http://schemas.microsoft.com/office/drawing/2014/main" id="{A0A3E33F-C881-4C92-10AA-090448FBF1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967615"/>
            <a:ext cx="1924493" cy="19363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D9CCE7-C4FA-AD8F-912D-8F8E74DF5790}"/>
              </a:ext>
            </a:extLst>
          </p:cNvPr>
          <p:cNvSpPr txBox="1"/>
          <p:nvPr/>
        </p:nvSpPr>
        <p:spPr>
          <a:xfrm>
            <a:off x="2463209" y="1615558"/>
            <a:ext cx="738962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000">
                <a:latin typeface="Microsoft Sans Serif"/>
                <a:ea typeface="Microsoft Sans Serif"/>
                <a:cs typeface="Microsoft Sans Serif"/>
              </a:rPr>
              <a:t>Create a </a:t>
            </a:r>
            <a:r>
              <a:rPr lang="en-US" sz="2000" b="1">
                <a:latin typeface="Microsoft Sans Serif"/>
                <a:ea typeface="Microsoft Sans Serif"/>
                <a:cs typeface="Microsoft Sans Serif"/>
              </a:rPr>
              <a:t>lock</a:t>
            </a:r>
            <a:r>
              <a:rPr lang="en-US" sz="2000">
                <a:latin typeface="Microsoft Sans Serif"/>
                <a:ea typeface="Microsoft Sans Serif"/>
                <a:cs typeface="Microsoft Sans Serif"/>
              </a:rPr>
              <a:t> (public-key) and </a:t>
            </a:r>
            <a:r>
              <a:rPr lang="en-US" sz="2000" b="1">
                <a:latin typeface="Microsoft Sans Serif"/>
                <a:ea typeface="Microsoft Sans Serif"/>
                <a:cs typeface="Microsoft Sans Serif"/>
              </a:rPr>
              <a:t>key </a:t>
            </a:r>
            <a:r>
              <a:rPr lang="en-US" sz="2000">
                <a:latin typeface="Microsoft Sans Serif"/>
                <a:ea typeface="Microsoft Sans Serif"/>
                <a:cs typeface="Microsoft Sans Serif"/>
              </a:rPr>
              <a:t>(private-key)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16" name="Graphic 15" descr="Lock with solid fill">
            <a:extLst>
              <a:ext uri="{FF2B5EF4-FFF2-40B4-BE49-F238E27FC236}">
                <a16:creationId xmlns:a16="http://schemas.microsoft.com/office/drawing/2014/main" id="{70E5599E-36E7-190C-F488-6D43F12F1B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022" y="1053510"/>
            <a:ext cx="743098" cy="7194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BB7F9F-5262-0225-5FA6-1591A23727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299514" y="1122292"/>
            <a:ext cx="587813" cy="581907"/>
          </a:xfrm>
          <a:prstGeom prst="rect">
            <a:avLst/>
          </a:prstGeom>
        </p:spPr>
      </p:pic>
      <p:pic>
        <p:nvPicPr>
          <p:cNvPr id="22" name="Picture 21" descr="A red and black rectangle with black border&#10;&#10;AI-generated content may be incorrect.">
            <a:extLst>
              <a:ext uri="{FF2B5EF4-FFF2-40B4-BE49-F238E27FC236}">
                <a16:creationId xmlns:a16="http://schemas.microsoft.com/office/drawing/2014/main" id="{519BCA87-9A5D-1DAE-5D0E-112F79E8D9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2551998" y="2086086"/>
            <a:ext cx="2492376" cy="1321315"/>
          </a:xfrm>
          <a:prstGeom prst="rect">
            <a:avLst/>
          </a:prstGeom>
        </p:spPr>
      </p:pic>
      <p:pic>
        <p:nvPicPr>
          <p:cNvPr id="24" name="Picture 23" descr="A red line on a black background&#10;&#10;AI-generated content may be incorrect.">
            <a:extLst>
              <a:ext uri="{FF2B5EF4-FFF2-40B4-BE49-F238E27FC236}">
                <a16:creationId xmlns:a16="http://schemas.microsoft.com/office/drawing/2014/main" id="{2F6BD486-5064-4776-ADAE-253DE963526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8" t="-953" r="9166" b="983"/>
          <a:stretch>
            <a:fillRect/>
          </a:stretch>
        </p:blipFill>
        <p:spPr>
          <a:xfrm rot="10800000">
            <a:off x="3665758" y="2086085"/>
            <a:ext cx="3872521" cy="13208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5474C5B-84B1-A2A2-4DBB-5A29E5A80EAD}"/>
              </a:ext>
            </a:extLst>
          </p:cNvPr>
          <p:cNvSpPr txBox="1"/>
          <p:nvPr/>
        </p:nvSpPr>
        <p:spPr>
          <a:xfrm>
            <a:off x="186255" y="3693298"/>
            <a:ext cx="235968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your device</a:t>
            </a:r>
            <a:endParaRPr lang="en-US" sz="2800" b="1" dirty="0">
              <a:solidFill>
                <a:srgbClr val="00356B"/>
              </a:solidFill>
              <a:latin typeface="Microsoft Sans Serif"/>
              <a:ea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006640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8BE4D-146E-32C1-6618-D557A93A3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1E3BD1EF-BA47-9BF3-41C8-2830912013C9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AD5D35-729C-FA19-0781-AF0ADBB54D88}"/>
              </a:ext>
            </a:extLst>
          </p:cNvPr>
          <p:cNvSpPr txBox="1"/>
          <p:nvPr/>
        </p:nvSpPr>
        <p:spPr>
          <a:xfrm>
            <a:off x="365746" y="774312"/>
            <a:ext cx="10926415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How SSH Keys Work</a:t>
            </a:r>
            <a:endParaRPr sz="2200" dirty="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7BA5BAA0-5EDC-EFA7-C28B-B118C2608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pic>
        <p:nvPicPr>
          <p:cNvPr id="6" name="Graphic 5" descr="Computer with solid fill">
            <a:extLst>
              <a:ext uri="{FF2B5EF4-FFF2-40B4-BE49-F238E27FC236}">
                <a16:creationId xmlns:a16="http://schemas.microsoft.com/office/drawing/2014/main" id="{9747F25E-0DC2-8B01-B2D0-455C11F9DD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967615"/>
            <a:ext cx="1924493" cy="19363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D938C0-528A-0A65-AD1C-0C96DAFCA8AB}"/>
              </a:ext>
            </a:extLst>
          </p:cNvPr>
          <p:cNvSpPr txBox="1"/>
          <p:nvPr/>
        </p:nvSpPr>
        <p:spPr>
          <a:xfrm>
            <a:off x="2380511" y="1515139"/>
            <a:ext cx="7389627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Create a </a:t>
            </a:r>
            <a:r>
              <a:rPr lang="en-US" sz="2000" b="1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lock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 (public-key) and </a:t>
            </a:r>
            <a:r>
              <a:rPr lang="en-US" sz="2000" b="1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key 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(private-key)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r>
              <a:rPr lang="en-US" sz="2000">
                <a:latin typeface="Microsoft Sans Serif"/>
                <a:ea typeface="Microsoft Sans Serif"/>
                <a:cs typeface="Microsoft Sans Serif"/>
              </a:rPr>
              <a:t>Share the </a:t>
            </a:r>
            <a:r>
              <a:rPr lang="en-US" sz="2000" b="1">
                <a:latin typeface="Microsoft Sans Serif"/>
                <a:ea typeface="Microsoft Sans Serif"/>
                <a:cs typeface="Microsoft Sans Serif"/>
              </a:rPr>
              <a:t>lock</a:t>
            </a:r>
            <a:r>
              <a:rPr lang="en-US" sz="2000">
                <a:latin typeface="Microsoft Sans Serif"/>
                <a:ea typeface="Microsoft Sans Serif"/>
                <a:cs typeface="Microsoft Sans Serif"/>
              </a:rPr>
              <a:t> (public-key) with the remote server</a:t>
            </a:r>
            <a:endParaRPr lang="en-US"/>
          </a:p>
          <a:p>
            <a:pPr algn="ctr"/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D1B6C91C-F221-3A7D-8463-119860A398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4268" y="1967748"/>
            <a:ext cx="1752117" cy="1775342"/>
          </a:xfrm>
          <a:prstGeom prst="rect">
            <a:avLst/>
          </a:prstGeom>
        </p:spPr>
      </p:pic>
      <p:pic>
        <p:nvPicPr>
          <p:cNvPr id="4" name="Graphic 3" descr="Lock with solid fill">
            <a:extLst>
              <a:ext uri="{FF2B5EF4-FFF2-40B4-BE49-F238E27FC236}">
                <a16:creationId xmlns:a16="http://schemas.microsoft.com/office/drawing/2014/main" id="{EF812911-98AC-A1E2-B20E-3FC6C89BED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2440" y="1839137"/>
            <a:ext cx="743098" cy="719470"/>
          </a:xfrm>
          <a:prstGeom prst="rect">
            <a:avLst/>
          </a:prstGeom>
        </p:spPr>
      </p:pic>
      <p:pic>
        <p:nvPicPr>
          <p:cNvPr id="12" name="Picture 11" descr="A red line on a black background&#10;&#10;AI-generated content may be incorrect.">
            <a:extLst>
              <a:ext uri="{FF2B5EF4-FFF2-40B4-BE49-F238E27FC236}">
                <a16:creationId xmlns:a16="http://schemas.microsoft.com/office/drawing/2014/main" id="{2B08866F-73B5-4C80-9069-021BE6FAA7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2457" y="2777202"/>
            <a:ext cx="4092576" cy="123861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D47EF47-0137-C49B-4E41-247ECF789BF5}"/>
              </a:ext>
            </a:extLst>
          </p:cNvPr>
          <p:cNvSpPr txBox="1"/>
          <p:nvPr/>
        </p:nvSpPr>
        <p:spPr>
          <a:xfrm>
            <a:off x="9779051" y="3624026"/>
            <a:ext cx="2705649" cy="14347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remote server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GitHub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YCRC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AWS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E94D04-969C-6E52-642C-2FFD4A97491C}"/>
              </a:ext>
            </a:extLst>
          </p:cNvPr>
          <p:cNvSpPr txBox="1"/>
          <p:nvPr/>
        </p:nvSpPr>
        <p:spPr>
          <a:xfrm>
            <a:off x="186255" y="3693298"/>
            <a:ext cx="235968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your device</a:t>
            </a:r>
            <a:endParaRPr lang="en-US" sz="2800" b="1" dirty="0">
              <a:solidFill>
                <a:srgbClr val="00356B"/>
              </a:solidFill>
              <a:latin typeface="Microsoft Sans Serif"/>
              <a:ea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842276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3BAC6-67BE-DD94-E5B8-6745C911C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456386E9-9DEA-E096-AF49-BBF7B4251D5E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FBAB27-7742-2A81-D19C-18EA6E7BDB14}"/>
              </a:ext>
            </a:extLst>
          </p:cNvPr>
          <p:cNvSpPr txBox="1"/>
          <p:nvPr/>
        </p:nvSpPr>
        <p:spPr>
          <a:xfrm>
            <a:off x="365746" y="774312"/>
            <a:ext cx="10926415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How SSH Keys Work</a:t>
            </a:r>
            <a:endParaRPr sz="2200" dirty="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185B2CA6-3F14-C6A3-4950-A1A9F4A78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pic>
        <p:nvPicPr>
          <p:cNvPr id="6" name="Graphic 5" descr="Computer with solid fill">
            <a:extLst>
              <a:ext uri="{FF2B5EF4-FFF2-40B4-BE49-F238E27FC236}">
                <a16:creationId xmlns:a16="http://schemas.microsoft.com/office/drawing/2014/main" id="{BF4B8C2E-B637-ECA1-A92C-EB4CD24C36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967615"/>
            <a:ext cx="1924493" cy="19363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DC1DE2-827F-7E81-4E9A-A642DA6D2B86}"/>
              </a:ext>
            </a:extLst>
          </p:cNvPr>
          <p:cNvSpPr txBox="1"/>
          <p:nvPr/>
        </p:nvSpPr>
        <p:spPr>
          <a:xfrm>
            <a:off x="186255" y="3693298"/>
            <a:ext cx="235968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your device</a:t>
            </a:r>
            <a:endParaRPr lang="en-US" sz="2800" b="1" dirty="0">
              <a:solidFill>
                <a:srgbClr val="00356B"/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D5718-2062-D8D1-200E-BD63ADEE04B8}"/>
              </a:ext>
            </a:extLst>
          </p:cNvPr>
          <p:cNvSpPr txBox="1"/>
          <p:nvPr/>
        </p:nvSpPr>
        <p:spPr>
          <a:xfrm>
            <a:off x="2404139" y="1361558"/>
            <a:ext cx="738962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Create a </a:t>
            </a:r>
            <a:r>
              <a:rPr lang="en-US" sz="2000" b="1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lock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 (public-key) and </a:t>
            </a:r>
            <a:r>
              <a:rPr lang="en-US" sz="2000" b="1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key 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(private-key)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Share the </a:t>
            </a:r>
            <a:r>
              <a:rPr lang="en-US" sz="2000" b="1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lock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 (public-key) with the remote server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r>
              <a:rPr lang="en-US" sz="2000">
                <a:latin typeface="Microsoft Sans Serif"/>
                <a:ea typeface="Microsoft Sans Serif"/>
                <a:cs typeface="Microsoft Sans Serif"/>
              </a:rPr>
              <a:t>Initiate an SSH connection from your device</a:t>
            </a: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38B67E96-A409-8C0C-9DFD-E96A591CF5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4268" y="1967748"/>
            <a:ext cx="1752117" cy="1775342"/>
          </a:xfrm>
          <a:prstGeom prst="rect">
            <a:avLst/>
          </a:prstGeom>
        </p:spPr>
      </p:pic>
      <p:pic>
        <p:nvPicPr>
          <p:cNvPr id="2" name="Picture 1" descr="A red line on a black background&#10;&#10;AI-generated content may be incorrect.">
            <a:extLst>
              <a:ext uri="{FF2B5EF4-FFF2-40B4-BE49-F238E27FC236}">
                <a16:creationId xmlns:a16="http://schemas.microsoft.com/office/drawing/2014/main" id="{360E2473-D88E-49AB-AC1B-2D57DAE0F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4061" y="3572466"/>
            <a:ext cx="3140297" cy="8235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A342E8-847C-175F-D9B5-0D8A5B062CEC}"/>
              </a:ext>
            </a:extLst>
          </p:cNvPr>
          <p:cNvSpPr txBox="1"/>
          <p:nvPr/>
        </p:nvSpPr>
        <p:spPr>
          <a:xfrm>
            <a:off x="5505302" y="3824560"/>
            <a:ext cx="304800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Microsoft Sans Serif"/>
              </a:rPr>
              <a:t>"</a:t>
            </a:r>
            <a:r>
              <a:rPr lang="en-US" sz="2000" i="1">
                <a:latin typeface="Microsoft Sans Serif"/>
              </a:rPr>
              <a:t>Hi, </a:t>
            </a:r>
            <a:r>
              <a:rPr lang="en-US" sz="2000" i="1" dirty="0">
                <a:latin typeface="Microsoft Sans Serif"/>
              </a:rPr>
              <a:t>it's</a:t>
            </a:r>
            <a:r>
              <a:rPr lang="en-US" sz="2000" i="1">
                <a:latin typeface="Microsoft Sans Serif"/>
              </a:rPr>
              <a:t> Mitch's Laptop...</a:t>
            </a:r>
            <a:r>
              <a:rPr lang="en-US" sz="2000">
                <a:latin typeface="Microsoft Sans Serif"/>
              </a:rPr>
              <a:t>"</a:t>
            </a:r>
            <a:endParaRPr lang="en-US" dirty="0"/>
          </a:p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477109-1E16-07D4-1D87-6FF4B25C36F8}"/>
              </a:ext>
            </a:extLst>
          </p:cNvPr>
          <p:cNvSpPr txBox="1"/>
          <p:nvPr/>
        </p:nvSpPr>
        <p:spPr>
          <a:xfrm>
            <a:off x="9779051" y="3624026"/>
            <a:ext cx="2705649" cy="14347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remote server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GitHub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YCRC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AWS</a:t>
            </a:r>
          </a:p>
        </p:txBody>
      </p:sp>
    </p:spTree>
    <p:extLst>
      <p:ext uri="{BB962C8B-B14F-4D97-AF65-F5344CB8AC3E}">
        <p14:creationId xmlns:p14="http://schemas.microsoft.com/office/powerpoint/2010/main" val="1579219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DB77D-A8C1-17BA-74D6-7A53195FD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05F58977-5373-6D9B-5606-4CC42C56A4C4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5671D4-38CE-3AE5-8D55-704676277745}"/>
              </a:ext>
            </a:extLst>
          </p:cNvPr>
          <p:cNvSpPr txBox="1"/>
          <p:nvPr/>
        </p:nvSpPr>
        <p:spPr>
          <a:xfrm>
            <a:off x="365746" y="774312"/>
            <a:ext cx="10926415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How SSH Keys Work</a:t>
            </a:r>
            <a:endParaRPr sz="2200" dirty="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89952407-1CFC-C46D-55CC-3E3A122A1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pic>
        <p:nvPicPr>
          <p:cNvPr id="6" name="Graphic 5" descr="Computer with solid fill">
            <a:extLst>
              <a:ext uri="{FF2B5EF4-FFF2-40B4-BE49-F238E27FC236}">
                <a16:creationId xmlns:a16="http://schemas.microsoft.com/office/drawing/2014/main" id="{42BE90B8-BE62-D8B9-6B6E-A2BB8506A4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967615"/>
            <a:ext cx="1924493" cy="19363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9F5102-E32E-F796-7E18-03F3586EE539}"/>
              </a:ext>
            </a:extLst>
          </p:cNvPr>
          <p:cNvSpPr txBox="1"/>
          <p:nvPr/>
        </p:nvSpPr>
        <p:spPr>
          <a:xfrm>
            <a:off x="186255" y="3693298"/>
            <a:ext cx="235968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your device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84D8E6-F354-C171-5F04-E103151B4018}"/>
              </a:ext>
            </a:extLst>
          </p:cNvPr>
          <p:cNvSpPr txBox="1"/>
          <p:nvPr/>
        </p:nvSpPr>
        <p:spPr>
          <a:xfrm>
            <a:off x="2327348" y="1361558"/>
            <a:ext cx="7389627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Create a </a:t>
            </a:r>
            <a:r>
              <a:rPr lang="en-US" sz="2000" b="1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lock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 (public-key) and </a:t>
            </a:r>
            <a:r>
              <a:rPr lang="en-US" sz="2000" b="1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key 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(private-key)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Share the </a:t>
            </a:r>
            <a:r>
              <a:rPr lang="en-US" sz="2000" b="1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lock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 (public-key) with the remote server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Initiate an SSH connection from your device</a:t>
            </a:r>
          </a:p>
          <a:p>
            <a:pPr marL="457200"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indent="-457200">
              <a:buAutoNum type="arabicPeriod"/>
            </a:pPr>
            <a:r>
              <a:rPr lang="en-US" sz="2000">
                <a:latin typeface="Microsoft Sans Serif"/>
                <a:ea typeface="Microsoft Sans Serif"/>
                <a:cs typeface="Microsoft Sans Serif"/>
              </a:rPr>
              <a:t>Remote server recognizes your device and presents lock</a:t>
            </a: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marL="914400" lvl="1" indent="-457200">
              <a:buFont typeface="Courier New"/>
              <a:buChar char="o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algn="ctr"/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0A6983EA-9FEF-6A07-3538-E826FEC3D9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4268" y="1967748"/>
            <a:ext cx="1752117" cy="1775342"/>
          </a:xfrm>
          <a:prstGeom prst="rect">
            <a:avLst/>
          </a:prstGeom>
        </p:spPr>
      </p:pic>
      <p:pic>
        <p:nvPicPr>
          <p:cNvPr id="17" name="Picture 16" descr="A red line on a black background&#10;&#10;AI-generated content may be incorrect.">
            <a:extLst>
              <a:ext uri="{FF2B5EF4-FFF2-40B4-BE49-F238E27FC236}">
                <a16:creationId xmlns:a16="http://schemas.microsoft.com/office/drawing/2014/main" id="{72A86584-D94D-00E1-DB0C-F68815034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578526" y="4340373"/>
            <a:ext cx="3140297" cy="8235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3377F7-95AF-6C9E-71B9-0D29142DAAC1}"/>
              </a:ext>
            </a:extLst>
          </p:cNvPr>
          <p:cNvSpPr txBox="1"/>
          <p:nvPr/>
        </p:nvSpPr>
        <p:spPr>
          <a:xfrm>
            <a:off x="4755116" y="4557025"/>
            <a:ext cx="304800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Microsoft Sans Serif"/>
              </a:rPr>
              <a:t>"</a:t>
            </a:r>
            <a:r>
              <a:rPr lang="en-US" sz="2000" i="1">
                <a:latin typeface="Microsoft Sans Serif"/>
              </a:rPr>
              <a:t>Oh, it's you</a:t>
            </a:r>
            <a:r>
              <a:rPr lang="en-US" sz="2000" i="1" dirty="0">
                <a:latin typeface="Microsoft Sans Serif"/>
              </a:rPr>
              <a:t>..</a:t>
            </a:r>
            <a:r>
              <a:rPr lang="en-US" sz="2000" dirty="0">
                <a:latin typeface="Microsoft Sans Serif"/>
              </a:rPr>
              <a:t>"</a:t>
            </a:r>
            <a:endParaRPr lang="en-US" dirty="0"/>
          </a:p>
          <a:p>
            <a:pPr algn="ctr"/>
            <a:endParaRPr lang="en-US"/>
          </a:p>
        </p:txBody>
      </p:sp>
      <p:pic>
        <p:nvPicPr>
          <p:cNvPr id="21" name="Graphic 20" descr="Lock with solid fill">
            <a:extLst>
              <a:ext uri="{FF2B5EF4-FFF2-40B4-BE49-F238E27FC236}">
                <a16:creationId xmlns:a16="http://schemas.microsoft.com/office/drawing/2014/main" id="{4F21D121-8E79-0422-CC4D-64936D34BD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51370" y="4958021"/>
            <a:ext cx="743098" cy="719470"/>
          </a:xfrm>
          <a:prstGeom prst="rect">
            <a:avLst/>
          </a:prstGeom>
        </p:spPr>
      </p:pic>
      <p:sp>
        <p:nvSpPr>
          <p:cNvPr id="22" name="TextBox 12">
            <a:extLst>
              <a:ext uri="{FF2B5EF4-FFF2-40B4-BE49-F238E27FC236}">
                <a16:creationId xmlns:a16="http://schemas.microsoft.com/office/drawing/2014/main" id="{3B9749D1-9197-4182-A901-4BE4A7C0F268}"/>
              </a:ext>
            </a:extLst>
          </p:cNvPr>
          <p:cNvSpPr txBox="1"/>
          <p:nvPr/>
        </p:nvSpPr>
        <p:spPr>
          <a:xfrm>
            <a:off x="9779051" y="3624026"/>
            <a:ext cx="2705649" cy="14347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remote server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GitHub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YCRC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AWS</a:t>
            </a:r>
          </a:p>
        </p:txBody>
      </p:sp>
    </p:spTree>
    <p:extLst>
      <p:ext uri="{BB962C8B-B14F-4D97-AF65-F5344CB8AC3E}">
        <p14:creationId xmlns:p14="http://schemas.microsoft.com/office/powerpoint/2010/main" val="228069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C149F-E64C-AD94-38AE-F6E77A51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2DE302C0-7BE9-1C3D-6886-F02658E52662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EA4287-3C5E-93F2-F8F7-D1057A6D58C0}"/>
              </a:ext>
            </a:extLst>
          </p:cNvPr>
          <p:cNvSpPr txBox="1"/>
          <p:nvPr/>
        </p:nvSpPr>
        <p:spPr>
          <a:xfrm>
            <a:off x="365746" y="774312"/>
            <a:ext cx="10926415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How SSH Keys Work</a:t>
            </a:r>
            <a:endParaRPr sz="2200" dirty="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561639F9-2176-FE63-EF9D-15509B20D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pic>
        <p:nvPicPr>
          <p:cNvPr id="6" name="Graphic 5" descr="Computer with solid fill">
            <a:extLst>
              <a:ext uri="{FF2B5EF4-FFF2-40B4-BE49-F238E27FC236}">
                <a16:creationId xmlns:a16="http://schemas.microsoft.com/office/drawing/2014/main" id="{D94B6633-EDB9-2B82-4D66-8FE7ABDF7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967615"/>
            <a:ext cx="1924493" cy="19363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494F141-7AA7-5384-1B4C-1F69C3AFCFC5}"/>
              </a:ext>
            </a:extLst>
          </p:cNvPr>
          <p:cNvSpPr txBox="1"/>
          <p:nvPr/>
        </p:nvSpPr>
        <p:spPr>
          <a:xfrm>
            <a:off x="2327348" y="1361558"/>
            <a:ext cx="7389627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Create a </a:t>
            </a:r>
            <a:r>
              <a:rPr lang="en-US" sz="2000" b="1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lock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 (public-key) and </a:t>
            </a:r>
            <a:r>
              <a:rPr lang="en-US" sz="2000" b="1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key 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(private-key)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Share the </a:t>
            </a:r>
            <a:r>
              <a:rPr lang="en-US" sz="2000" b="1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lock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 (public-key) with the remote server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Initiate an SSH connection from your device</a:t>
            </a: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indent="-457200">
              <a:buAutoNum type="arabicPeriod"/>
            </a:pP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Remote server recognizes your device and presents lock</a:t>
            </a: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indent="-457200">
              <a:buAutoNum type="arabicPeriod"/>
            </a:pPr>
            <a:r>
              <a:rPr lang="en-US" sz="2000" dirty="0">
                <a:latin typeface="Microsoft Sans Serif"/>
                <a:ea typeface="Microsoft Sans Serif"/>
                <a:cs typeface="Microsoft Sans Serif"/>
              </a:rPr>
              <a:t>Your </a:t>
            </a:r>
            <a:r>
              <a:rPr lang="en-US" sz="2000">
                <a:latin typeface="Microsoft Sans Serif"/>
                <a:ea typeface="Microsoft Sans Serif"/>
                <a:cs typeface="Microsoft Sans Serif"/>
              </a:rPr>
              <a:t>device recognizes the lock and presents the key</a:t>
            </a:r>
          </a:p>
          <a:p>
            <a:pPr algn="ctr"/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09EBEBE5-BC31-241A-DAC8-9B59B30A04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4268" y="1967748"/>
            <a:ext cx="1752117" cy="17753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B279BA-2E9E-6AF5-6D22-899A9CCCC5B6}"/>
              </a:ext>
            </a:extLst>
          </p:cNvPr>
          <p:cNvSpPr txBox="1"/>
          <p:nvPr/>
        </p:nvSpPr>
        <p:spPr>
          <a:xfrm>
            <a:off x="186255" y="3693298"/>
            <a:ext cx="235968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your device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10924512-2B04-330C-60C9-600912554404}"/>
              </a:ext>
            </a:extLst>
          </p:cNvPr>
          <p:cNvSpPr txBox="1"/>
          <p:nvPr/>
        </p:nvSpPr>
        <p:spPr>
          <a:xfrm>
            <a:off x="9779051" y="3624026"/>
            <a:ext cx="2705649" cy="14347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remote server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GitHub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YCRC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AWS</a:t>
            </a:r>
          </a:p>
        </p:txBody>
      </p:sp>
      <p:pic>
        <p:nvPicPr>
          <p:cNvPr id="12" name="Picture 11" descr="A red line on a black background&#10;&#10;AI-generated content may be incorrect.">
            <a:extLst>
              <a:ext uri="{FF2B5EF4-FFF2-40B4-BE49-F238E27FC236}">
                <a16:creationId xmlns:a16="http://schemas.microsoft.com/office/drawing/2014/main" id="{31C82A33-76B9-C4F3-90C3-C3828BC3B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997921" y="5356373"/>
            <a:ext cx="3140297" cy="823582"/>
          </a:xfrm>
          <a:prstGeom prst="rect">
            <a:avLst/>
          </a:prstGeom>
        </p:spPr>
      </p:pic>
      <p:pic>
        <p:nvPicPr>
          <p:cNvPr id="17" name="Graphic 16" descr="Lock with solid fill">
            <a:extLst>
              <a:ext uri="{FF2B5EF4-FFF2-40B4-BE49-F238E27FC236}">
                <a16:creationId xmlns:a16="http://schemas.microsoft.com/office/drawing/2014/main" id="{3EA27143-708C-BC12-AE38-8D8D527BCD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7323" y="5353788"/>
            <a:ext cx="743098" cy="719470"/>
          </a:xfrm>
          <a:prstGeom prst="rect">
            <a:avLst/>
          </a:prstGeom>
        </p:spPr>
      </p:pic>
      <p:pic>
        <p:nvPicPr>
          <p:cNvPr id="19" name="Picture 18" descr="A red line on a black background&#10;&#10;AI-generated content may be incorrect.">
            <a:extLst>
              <a:ext uri="{FF2B5EF4-FFF2-40B4-BE49-F238E27FC236}">
                <a16:creationId xmlns:a16="http://schemas.microsoft.com/office/drawing/2014/main" id="{170BE23A-2155-5AD9-AE41-5E02B5235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4061" y="5356373"/>
            <a:ext cx="3140297" cy="8235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1D1535F-1182-C3D8-2428-2A9FAC99E9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5385654" y="5446199"/>
            <a:ext cx="587813" cy="58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954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11076-99BC-CF21-B0EF-0345630B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C8820924-8A45-9D98-A8C7-EAB8DF4132C1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E9AA12-DAC7-E5F3-AD3F-FBB4AB6A12D1}"/>
              </a:ext>
            </a:extLst>
          </p:cNvPr>
          <p:cNvSpPr txBox="1"/>
          <p:nvPr/>
        </p:nvSpPr>
        <p:spPr>
          <a:xfrm>
            <a:off x="365746" y="774312"/>
            <a:ext cx="10926415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How SSH Keys Work</a:t>
            </a:r>
            <a:endParaRPr sz="2200" dirty="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16B2BB13-0F4A-7E01-F244-3A5C2E3BF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pic>
        <p:nvPicPr>
          <p:cNvPr id="6" name="Graphic 5" descr="Computer with solid fill">
            <a:extLst>
              <a:ext uri="{FF2B5EF4-FFF2-40B4-BE49-F238E27FC236}">
                <a16:creationId xmlns:a16="http://schemas.microsoft.com/office/drawing/2014/main" id="{CB4173DB-771E-4289-CE44-0A1414B86F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967615"/>
            <a:ext cx="1924493" cy="19363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FB7DB9-5622-79B8-0A25-0B73E310C0E4}"/>
              </a:ext>
            </a:extLst>
          </p:cNvPr>
          <p:cNvSpPr txBox="1"/>
          <p:nvPr/>
        </p:nvSpPr>
        <p:spPr>
          <a:xfrm>
            <a:off x="2327348" y="1361558"/>
            <a:ext cx="7389627" cy="52937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Create a </a:t>
            </a:r>
            <a:r>
              <a:rPr lang="en-US" sz="2000" b="1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lock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 (public-key) and </a:t>
            </a:r>
            <a:r>
              <a:rPr lang="en-US" sz="2000" b="1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key 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(private-key)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Share the </a:t>
            </a:r>
            <a:r>
              <a:rPr lang="en-US" sz="2000" b="1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lock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 (public-key) with the remote server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Initiate an SSH connection from your device</a:t>
            </a: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indent="-457200">
              <a:buAutoNum type="arabicPeriod"/>
            </a:pP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Remote server recognizes your device and presents lock</a:t>
            </a: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indent="-457200">
              <a:buAutoNum type="arabicPeriod"/>
            </a:pPr>
            <a:endParaRPr lang="en-US" sz="2000" dirty="0">
              <a:solidFill>
                <a:schemeClr val="tx1">
                  <a:lumMod val="49000"/>
                  <a:lumOff val="51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  <a:p>
            <a:pPr indent="-457200">
              <a:buAutoNum type="arabicPeriod"/>
            </a:pPr>
            <a:r>
              <a:rPr lang="en-US" sz="2000" dirty="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Your </a:t>
            </a: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device recognizes the lock and presents the key</a:t>
            </a:r>
          </a:p>
          <a:p>
            <a:pPr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indent="-457200">
              <a:buAutoNum type="arabicPeriod"/>
            </a:pPr>
            <a:endParaRPr lang="en-US" sz="2000" dirty="0">
              <a:latin typeface="Microsoft Sans Serif"/>
              <a:ea typeface="Microsoft Sans Serif"/>
              <a:cs typeface="Microsoft Sans Serif"/>
            </a:endParaRPr>
          </a:p>
          <a:p>
            <a:pPr indent="-457200">
              <a:buAutoNum type="arabicPeriod"/>
            </a:pPr>
            <a:r>
              <a:rPr lang="en-US" sz="2000" dirty="0">
                <a:latin typeface="Microsoft Sans Serif"/>
                <a:ea typeface="Microsoft Sans Serif"/>
                <a:cs typeface="Microsoft Sans Serif"/>
              </a:rPr>
              <a:t>Connection </a:t>
            </a:r>
            <a:r>
              <a:rPr lang="en-US" sz="2000">
                <a:latin typeface="Microsoft Sans Serif"/>
                <a:ea typeface="Microsoft Sans Serif"/>
                <a:cs typeface="Microsoft Sans Serif"/>
              </a:rPr>
              <a:t>Established</a:t>
            </a:r>
            <a:endParaRPr lang="en-US" sz="2000" dirty="0" err="1">
              <a:latin typeface="Microsoft Sans Serif"/>
              <a:ea typeface="Microsoft Sans Serif"/>
              <a:cs typeface="Microsoft Sans Serif"/>
            </a:endParaRPr>
          </a:p>
          <a:p>
            <a:pPr algn="ctr"/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68A00BA7-4ABC-17D1-8E53-CE9798F955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4268" y="1967748"/>
            <a:ext cx="1752117" cy="17753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8F6B83-3CB4-077E-26E7-049E9860E8D3}"/>
              </a:ext>
            </a:extLst>
          </p:cNvPr>
          <p:cNvSpPr txBox="1"/>
          <p:nvPr/>
        </p:nvSpPr>
        <p:spPr>
          <a:xfrm>
            <a:off x="186255" y="3693298"/>
            <a:ext cx="235968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your device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273CEE20-73CF-7D1E-88C8-481577235928}"/>
              </a:ext>
            </a:extLst>
          </p:cNvPr>
          <p:cNvSpPr txBox="1"/>
          <p:nvPr/>
        </p:nvSpPr>
        <p:spPr>
          <a:xfrm>
            <a:off x="9779051" y="3624026"/>
            <a:ext cx="2705649" cy="14347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remote server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GitHub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YCRC</a:t>
            </a:r>
          </a:p>
          <a:p>
            <a:pPr marL="457200" indent="-457200">
              <a:buFont typeface="Arial"/>
              <a:buChar char="•"/>
            </a:pPr>
            <a:r>
              <a:rPr lang="en-US" sz="2000" b="1">
                <a:solidFill>
                  <a:srgbClr val="00356B"/>
                </a:solidFill>
                <a:latin typeface="Microsoft Sans Serif"/>
                <a:ea typeface="Microsoft Sans Serif"/>
                <a:cs typeface="Microsoft Sans Serif"/>
              </a:rPr>
              <a:t>AWS</a:t>
            </a:r>
          </a:p>
        </p:txBody>
      </p:sp>
      <p:pic>
        <p:nvPicPr>
          <p:cNvPr id="16" name="Picture 15" descr="A green line on a black background&#10;&#10;AI-generated content may be incorrect.">
            <a:extLst>
              <a:ext uri="{FF2B5EF4-FFF2-40B4-BE49-F238E27FC236}">
                <a16:creationId xmlns:a16="http://schemas.microsoft.com/office/drawing/2014/main" id="{581B7154-8939-A695-E75B-35C32783E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132294" y="6023861"/>
            <a:ext cx="6524995" cy="959441"/>
          </a:xfrm>
          <a:prstGeom prst="rect">
            <a:avLst/>
          </a:prstGeom>
        </p:spPr>
      </p:pic>
      <p:pic>
        <p:nvPicPr>
          <p:cNvPr id="18" name="Picture 17" descr="A green line on a black background&#10;&#10;AI-generated content may be incorrect.">
            <a:extLst>
              <a:ext uri="{FF2B5EF4-FFF2-40B4-BE49-F238E27FC236}">
                <a16:creationId xmlns:a16="http://schemas.microsoft.com/office/drawing/2014/main" id="{E8807BFA-98D8-A4AC-942F-7F486AD54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363" y="6023860"/>
            <a:ext cx="6524995" cy="95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69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74344-873C-2443-AE8A-5FECB4300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115D6D0F-B13F-6010-2DE4-3EB910D7BBB9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00F210-FBC4-D599-1C0C-4CC927BAF2A2}"/>
              </a:ext>
            </a:extLst>
          </p:cNvPr>
          <p:cNvSpPr txBox="1"/>
          <p:nvPr/>
        </p:nvSpPr>
        <p:spPr>
          <a:xfrm>
            <a:off x="458110" y="987903"/>
            <a:ext cx="10926415" cy="40062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How SSH Keys Work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SSH uses a key pair: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sz="2400" b="1">
                <a:solidFill>
                  <a:srgbClr val="CC0000"/>
                </a:solidFill>
                <a:latin typeface="Microsoft Sans Serif"/>
              </a:rPr>
              <a:t>Private key </a:t>
            </a:r>
            <a:r>
              <a:rPr sz="2200">
                <a:latin typeface="Microsoft Sans Serif"/>
              </a:rPr>
              <a:t>(🔒 stays on YOUR computer — never share!)</a:t>
            </a:r>
            <a:endParaRPr sz="2200">
              <a:latin typeface="Microsoft Sans Serif"/>
              <a:ea typeface="Microsoft Sans Serif"/>
              <a:cs typeface="Microsoft Sans Serif"/>
            </a:endParaRP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sz="2400" b="1">
                <a:solidFill>
                  <a:srgbClr val="008000"/>
                </a:solidFill>
                <a:latin typeface="Microsoft Sans Serif"/>
              </a:rPr>
              <a:t>Public key </a:t>
            </a:r>
            <a:r>
              <a:rPr sz="2200">
                <a:latin typeface="Microsoft Sans Serif"/>
              </a:rPr>
              <a:t>(🔓 goes to GitHub — like giving them your lock)</a:t>
            </a:r>
            <a:endParaRPr sz="2200"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1600"/>
              </a:spcBef>
            </a:pPr>
            <a:endParaRPr lang="en-US" sz="2400" b="1" dirty="0">
              <a:latin typeface="Microsoft Sans Serif"/>
            </a:endParaRPr>
          </a:p>
          <a:p>
            <a:pPr>
              <a:spcBef>
                <a:spcPts val="1600"/>
              </a:spcBef>
            </a:pPr>
            <a:r>
              <a:rPr sz="2400" b="1">
                <a:latin typeface="Microsoft Sans Serif"/>
              </a:rPr>
              <a:t>The analogy:</a:t>
            </a:r>
            <a:endParaRPr/>
          </a:p>
          <a:p>
            <a:pPr>
              <a:spcBef>
                <a:spcPts val="600"/>
              </a:spcBef>
            </a:pPr>
            <a:r>
              <a:rPr sz="2200" dirty="0">
                <a:latin typeface="Microsoft Sans Serif"/>
              </a:rPr>
              <a:t>You give GitHub a lock (</a:t>
            </a:r>
            <a:r>
              <a:rPr sz="2200" b="1" dirty="0">
                <a:latin typeface="Microsoft Sans Serif"/>
              </a:rPr>
              <a:t>public key</a:t>
            </a:r>
            <a:r>
              <a:rPr sz="2200" dirty="0">
                <a:latin typeface="Microsoft Sans Serif"/>
              </a:rPr>
              <a:t>). Only your key (</a:t>
            </a:r>
            <a:r>
              <a:rPr sz="2200" b="1" dirty="0">
                <a:latin typeface="Microsoft Sans Serif"/>
              </a:rPr>
              <a:t>private key</a:t>
            </a:r>
            <a:r>
              <a:rPr sz="2200" dirty="0">
                <a:latin typeface="Microsoft Sans Serif"/>
              </a:rPr>
              <a:t>) can open it. When you connect, GitHub tests if your key fits the lock. If it does — you're in.</a:t>
            </a:r>
            <a:endParaRPr sz="2200" dirty="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A5D74700-F25B-AB86-558F-E1B3D533E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pic>
        <p:nvPicPr>
          <p:cNvPr id="6" name="Graphic 5" descr="Computer with solid fill">
            <a:extLst>
              <a:ext uri="{FF2B5EF4-FFF2-40B4-BE49-F238E27FC236}">
                <a16:creationId xmlns:a16="http://schemas.microsoft.com/office/drawing/2014/main" id="{C1A96BB6-BD73-1D1B-A568-F4223CF943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5963" y="1619103"/>
            <a:ext cx="914400" cy="914400"/>
          </a:xfrm>
          <a:prstGeom prst="rect">
            <a:avLst/>
          </a:prstGeom>
        </p:spPr>
      </p:pic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40A682BA-9DC0-5ED3-515A-D1564F86A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8660" y="253468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23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49552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00356B"/>
                </a:solidFill>
                <a:latin typeface="Microsoft Sans Serif"/>
              </a:rPr>
              <a:t>SSH Setup: Step 1 – Generate Your Key Pair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sz="2200">
                <a:latin typeface="Microsoft Sans Serif"/>
              </a:rPr>
              <a:t>Navigate to your SSH directory:</a:t>
            </a:r>
          </a:p>
          <a:p>
            <a:pPr>
              <a:spcBef>
                <a:spcPts val="600"/>
              </a:spcBef>
            </a:pPr>
            <a:r>
              <a:rPr lang="en-US" sz="2200">
                <a:solidFill>
                  <a:srgbClr val="008000"/>
                </a:solidFill>
                <a:latin typeface="Consolas"/>
              </a:rPr>
              <a:t>  </a:t>
            </a:r>
            <a:r>
              <a:rPr sz="2200">
                <a:solidFill>
                  <a:srgbClr val="008000"/>
                </a:solidFill>
                <a:latin typeface="Consolas"/>
              </a:rPr>
              <a:t>cd ~/.ssh</a:t>
            </a:r>
          </a:p>
          <a:p>
            <a:pPr>
              <a:spcBef>
                <a:spcPts val="1400"/>
              </a:spcBef>
            </a:pPr>
            <a:r>
              <a:rPr sz="2200">
                <a:latin typeface="Microsoft Sans Serif"/>
              </a:rPr>
              <a:t>Generate a new SSH key: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solidFill>
                  <a:srgbClr val="008000"/>
                </a:solidFill>
                <a:latin typeface="Consolas"/>
              </a:rPr>
              <a:t>  </a:t>
            </a:r>
            <a:r>
              <a:rPr sz="2000" dirty="0">
                <a:solidFill>
                  <a:srgbClr val="008000"/>
                </a:solidFill>
                <a:latin typeface="Consolas"/>
              </a:rPr>
              <a:t>ssh-keygen -t ed25519 -C </a:t>
            </a:r>
            <a:r>
              <a:rPr lang="en-US" sz="2000">
                <a:solidFill>
                  <a:srgbClr val="008000"/>
                </a:solidFill>
                <a:latin typeface="Consolas"/>
              </a:rPr>
              <a:t>"YOUR_GITHUB_EMAIL@email.com</a:t>
            </a:r>
            <a:r>
              <a:rPr lang="en-US" sz="2000" dirty="0">
                <a:solidFill>
                  <a:srgbClr val="008000"/>
                </a:solidFill>
                <a:latin typeface="Consolas"/>
              </a:rPr>
              <a:t>"</a:t>
            </a:r>
            <a:r>
              <a:rPr sz="2000" dirty="0">
                <a:solidFill>
                  <a:srgbClr val="008000"/>
                </a:solidFill>
                <a:latin typeface="Consolas"/>
              </a:rPr>
              <a:t> </a:t>
            </a:r>
            <a:endParaRPr lang="en-US" sz="2000">
              <a:solidFill>
                <a:srgbClr val="008000"/>
              </a:solidFill>
              <a:latin typeface="Consolas"/>
            </a:endParaRP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When prompted for a passphrase: press Enter twice (skip it).</a:t>
            </a:r>
            <a:endParaRPr sz="2000">
              <a:solidFill>
                <a:srgbClr val="008000"/>
              </a:solidFill>
              <a:latin typeface="Consolas"/>
            </a:endParaRPr>
          </a:p>
          <a:p>
            <a:pPr>
              <a:spcBef>
                <a:spcPts val="1400"/>
              </a:spcBef>
            </a:pPr>
            <a:r>
              <a:rPr sz="2200">
                <a:latin typeface="Microsoft Sans Serif"/>
              </a:rPr>
              <a:t>Verify your keys were created:</a:t>
            </a: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8000"/>
                </a:solidFill>
                <a:latin typeface="Consolas"/>
              </a:rPr>
              <a:t>  </a:t>
            </a:r>
            <a:r>
              <a:rPr sz="2200">
                <a:solidFill>
                  <a:srgbClr val="008000"/>
                </a:solidFill>
                <a:latin typeface="Consolas"/>
              </a:rPr>
              <a:t>ls -la</a:t>
            </a:r>
          </a:p>
          <a:p>
            <a:pPr>
              <a:spcBef>
                <a:spcPts val="1000"/>
              </a:spcBef>
            </a:pPr>
            <a:r>
              <a:rPr sz="2200">
                <a:latin typeface="Microsoft Sans Serif"/>
              </a:rPr>
              <a:t>You should see two files:</a:t>
            </a:r>
          </a:p>
          <a:p>
            <a:pPr>
              <a:spcBef>
                <a:spcPts val="400"/>
              </a:spcBef>
            </a:pPr>
            <a:r>
              <a:rPr lang="en-US" sz="2200" dirty="0">
                <a:solidFill>
                  <a:srgbClr val="CC0000"/>
                </a:solidFill>
                <a:latin typeface="Consolas"/>
              </a:rPr>
              <a:t>  </a:t>
            </a:r>
            <a:r>
              <a:rPr sz="2200" dirty="0" err="1">
                <a:solidFill>
                  <a:srgbClr val="CC0000"/>
                </a:solidFill>
                <a:latin typeface="Consolas"/>
              </a:rPr>
              <a:t>github_class</a:t>
            </a:r>
            <a:r>
              <a:rPr sz="2200" dirty="0">
                <a:latin typeface="Microsoft Sans Serif"/>
              </a:rPr>
              <a:t>  ← private key (NEVER share)</a:t>
            </a:r>
            <a:endParaRPr sz="2200" dirty="0"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400"/>
              </a:spcBef>
            </a:pPr>
            <a:r>
              <a:rPr lang="en-US" sz="2200">
                <a:solidFill>
                  <a:srgbClr val="008000"/>
                </a:solidFill>
                <a:latin typeface="Consolas"/>
              </a:rPr>
              <a:t>  </a:t>
            </a:r>
            <a:r>
              <a:rPr sz="2200">
                <a:solidFill>
                  <a:srgbClr val="008000"/>
                </a:solidFill>
                <a:latin typeface="Consolas"/>
              </a:rPr>
              <a:t>github_class.pub</a:t>
            </a:r>
            <a:r>
              <a:rPr sz="2200">
                <a:latin typeface="Microsoft Sans Serif"/>
              </a:rPr>
              <a:t>  ← public key (this goes to GitHub)</a:t>
            </a: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EB60D615-F75B-6F1F-865C-1DDD30359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668" y="846136"/>
            <a:ext cx="10926415" cy="43396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00356B"/>
                </a:solidFill>
                <a:latin typeface="Microsoft Sans Serif"/>
              </a:rPr>
              <a:t>SSH Setup: Step 2 – Copy Your Public Key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sz="2200">
                <a:latin typeface="Microsoft Sans Serif"/>
              </a:rPr>
              <a:t>Display your public key:</a:t>
            </a:r>
          </a:p>
          <a:p>
            <a:pPr>
              <a:spcBef>
                <a:spcPts val="600"/>
              </a:spcBef>
            </a:pPr>
            <a:r>
              <a:rPr lang="en-US" sz="2200">
                <a:solidFill>
                  <a:srgbClr val="008000"/>
                </a:solidFill>
                <a:latin typeface="Consolas"/>
              </a:rPr>
              <a:t> </a:t>
            </a:r>
            <a:r>
              <a:rPr sz="2200">
                <a:solidFill>
                  <a:srgbClr val="008000"/>
                </a:solidFill>
                <a:latin typeface="Consolas"/>
              </a:rPr>
              <a:t>cat </a:t>
            </a:r>
            <a:r>
              <a:rPr lang="en-US" sz="2200">
                <a:solidFill>
                  <a:srgbClr val="008000"/>
                </a:solidFill>
                <a:latin typeface="Consolas"/>
              </a:rPr>
              <a:t>id_ed25519.</a:t>
            </a:r>
            <a:r>
              <a:rPr sz="2200">
                <a:solidFill>
                  <a:srgbClr val="008000"/>
                </a:solidFill>
                <a:latin typeface="Consolas"/>
              </a:rPr>
              <a:t>pub</a:t>
            </a:r>
          </a:p>
          <a:p>
            <a:pPr>
              <a:spcBef>
                <a:spcPts val="1200"/>
              </a:spcBef>
            </a:pPr>
            <a:endParaRPr lang="en-US" sz="2200" dirty="0"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1200"/>
              </a:spcBef>
            </a:pPr>
            <a:r>
              <a:rPr sz="2200" dirty="0">
                <a:latin typeface="Microsoft Sans Serif"/>
              </a:rPr>
              <a:t>You'll see something like:</a:t>
            </a:r>
            <a:endParaRPr/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666666"/>
                </a:solidFill>
                <a:latin typeface="Consolas"/>
              </a:rPr>
              <a:t> </a:t>
            </a:r>
            <a:r>
              <a:rPr sz="2200" dirty="0">
                <a:latin typeface="Consolas"/>
              </a:rPr>
              <a:t>ssh-ed25519 AAAAC3Nza...</a:t>
            </a:r>
            <a:r>
              <a:rPr sz="2200" dirty="0" err="1">
                <a:latin typeface="Consolas"/>
              </a:rPr>
              <a:t>long_string</a:t>
            </a:r>
            <a:r>
              <a:rPr sz="2200" dirty="0">
                <a:latin typeface="Consolas"/>
              </a:rPr>
              <a:t>... </a:t>
            </a:r>
            <a:r>
              <a:rPr lang="en-US" sz="2000" dirty="0">
                <a:solidFill>
                  <a:srgbClr val="008000"/>
                </a:solidFill>
                <a:latin typeface="Consolas"/>
              </a:rPr>
              <a:t>YOUR_GITHUB_EMAIL@email.com</a:t>
            </a:r>
          </a:p>
          <a:p>
            <a:pPr>
              <a:spcBef>
                <a:spcPts val="1400"/>
              </a:spcBef>
            </a:pPr>
            <a:endParaRPr lang="en-US" sz="2400" b="1" dirty="0">
              <a:latin typeface="Microsoft Sans Serif"/>
            </a:endParaRPr>
          </a:p>
          <a:p>
            <a:pPr>
              <a:spcBef>
                <a:spcPts val="1400"/>
              </a:spcBef>
            </a:pPr>
            <a:r>
              <a:rPr sz="2400" b="1">
                <a:latin typeface="Microsoft Sans Serif"/>
              </a:rPr>
              <a:t>Select and copy </a:t>
            </a:r>
            <a:r>
              <a:rPr sz="2400" b="1" u="sng">
                <a:latin typeface="Microsoft Sans Serif"/>
              </a:rPr>
              <a:t>ALL</a:t>
            </a:r>
            <a:r>
              <a:rPr sz="2400" b="1">
                <a:latin typeface="Microsoft Sans Serif"/>
              </a:rPr>
              <a:t> of it.</a:t>
            </a:r>
            <a:endParaRPr/>
          </a:p>
          <a:p>
            <a:pPr>
              <a:spcBef>
                <a:spcPts val="600"/>
              </a:spcBef>
            </a:pPr>
            <a:r>
              <a:rPr lang="en-US" sz="2000" dirty="0">
                <a:solidFill>
                  <a:srgbClr val="666666"/>
                </a:solidFill>
                <a:latin typeface="Microsoft Sans Serif"/>
              </a:rPr>
              <a:t> </a:t>
            </a:r>
            <a:r>
              <a:rPr lang="en-US" sz="2000" dirty="0">
                <a:latin typeface="Microsoft Sans Serif"/>
              </a:rPr>
              <a:t>Tip</a:t>
            </a:r>
            <a:r>
              <a:rPr sz="2000" dirty="0">
                <a:latin typeface="Microsoft Sans Serif"/>
              </a:rPr>
              <a:t>: </a:t>
            </a:r>
            <a:r>
              <a:rPr sz="2000" dirty="0" err="1">
                <a:latin typeface="Microsoft Sans Serif"/>
              </a:rPr>
              <a:t>Ctrl+Shift+C</a:t>
            </a:r>
            <a:r>
              <a:rPr sz="2000" dirty="0">
                <a:latin typeface="Microsoft Sans Serif"/>
              </a:rPr>
              <a:t> to copy in most terminals</a:t>
            </a:r>
            <a:endParaRPr sz="2000" dirty="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88B34953-928C-85D5-FCBE-8707C3C66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pic>
        <p:nvPicPr>
          <p:cNvPr id="5" name="Picture 4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691C2328-DF5C-B0F1-7447-79D8C05E5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544" y="218110"/>
            <a:ext cx="524566" cy="6239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32521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00356B"/>
                </a:solidFill>
                <a:latin typeface="Microsoft Sans Serif"/>
              </a:rPr>
              <a:t>SSH Setup: Step 3 – Add Key to GitHub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spcBef>
                <a:spcPts val="400"/>
              </a:spcBef>
              <a:buAutoNum type="arabicPeriod"/>
            </a:pPr>
            <a:r>
              <a:rPr sz="2200">
                <a:latin typeface="Microsoft Sans Serif"/>
              </a:rPr>
              <a:t>Go to GitHub.com → Profile picture → Settings</a:t>
            </a:r>
            <a:endParaRPr lang="en-US" sz="2200">
              <a:latin typeface="Microsoft Sans Serif"/>
            </a:endParaRPr>
          </a:p>
          <a:p>
            <a:pPr marL="457200" indent="-457200">
              <a:spcBef>
                <a:spcPts val="400"/>
              </a:spcBef>
              <a:buAutoNum type="arabicPeriod"/>
            </a:pPr>
            <a:r>
              <a:rPr lang="en-US" sz="2200">
                <a:latin typeface="Microsoft Sans Serif"/>
              </a:rPr>
              <a:t>Click</a:t>
            </a:r>
            <a:r>
              <a:rPr sz="2200">
                <a:latin typeface="Microsoft Sans Serif"/>
              </a:rPr>
              <a:t> "SSH and GPG keys" (left sidebar)</a:t>
            </a:r>
            <a:endParaRPr lang="en-US">
              <a:latin typeface="Calibri"/>
              <a:ea typeface="Calibri"/>
              <a:cs typeface="Calibri"/>
            </a:endParaRPr>
          </a:p>
          <a:p>
            <a:pPr marL="457200" indent="-457200">
              <a:spcBef>
                <a:spcPts val="400"/>
              </a:spcBef>
              <a:buAutoNum type="arabicPeriod"/>
            </a:pPr>
            <a:r>
              <a:rPr sz="2200">
                <a:latin typeface="Microsoft Sans Serif"/>
              </a:rPr>
              <a:t>Click "New SSH key" (green button)</a:t>
            </a:r>
            <a:endParaRPr lang="en-US">
              <a:latin typeface="Calibri"/>
              <a:ea typeface="Calibri"/>
              <a:cs typeface="Calibri"/>
            </a:endParaRPr>
          </a:p>
          <a:p>
            <a:pPr marL="457200" indent="-457200">
              <a:spcBef>
                <a:spcPts val="400"/>
              </a:spcBef>
              <a:buAutoNum type="arabicPeriod"/>
            </a:pPr>
            <a:r>
              <a:rPr sz="2200">
                <a:latin typeface="Microsoft Sans Serif"/>
              </a:rPr>
              <a:t>Title: name of your computer (e.g., "Bouchet HPC")</a:t>
            </a:r>
            <a:endParaRPr lang="en-US">
              <a:latin typeface="Calibri"/>
              <a:ea typeface="Calibri"/>
              <a:cs typeface="Calibri"/>
            </a:endParaRPr>
          </a:p>
          <a:p>
            <a:pPr marL="457200" indent="-457200">
              <a:spcBef>
                <a:spcPts val="400"/>
              </a:spcBef>
              <a:buAutoNum type="arabicPeriod"/>
            </a:pPr>
            <a:r>
              <a:rPr sz="2200">
                <a:latin typeface="Microsoft Sans Serif"/>
              </a:rPr>
              <a:t>Key type: Authentication </a:t>
            </a:r>
            <a:r>
              <a:rPr lang="en-US" sz="2200">
                <a:latin typeface="Microsoft Sans Serif"/>
              </a:rPr>
              <a:t>Key</a:t>
            </a:r>
            <a:endParaRPr lang="en-US">
              <a:latin typeface="Calibri"/>
              <a:ea typeface="Calibri"/>
              <a:cs typeface="Calibri"/>
            </a:endParaRPr>
          </a:p>
          <a:p>
            <a:pPr marL="457200" indent="-457200">
              <a:spcBef>
                <a:spcPts val="400"/>
              </a:spcBef>
              <a:buAutoNum type="arabicPeriod"/>
            </a:pPr>
            <a:r>
              <a:rPr lang="en-US" sz="2200">
                <a:latin typeface="Microsoft Sans Serif"/>
              </a:rPr>
              <a:t>Paste</a:t>
            </a:r>
            <a:r>
              <a:rPr sz="2200">
                <a:latin typeface="Microsoft Sans Serif"/>
              </a:rPr>
              <a:t> the entire public key into the Key </a:t>
            </a:r>
            <a:r>
              <a:rPr lang="en-US" sz="2200">
                <a:latin typeface="Microsoft Sans Serif"/>
              </a:rPr>
              <a:t>field</a:t>
            </a:r>
            <a:endParaRPr lang="en-US">
              <a:latin typeface="Calibri"/>
              <a:ea typeface="Calibri"/>
              <a:cs typeface="Calibri"/>
            </a:endParaRPr>
          </a:p>
          <a:p>
            <a:pPr marL="457200" indent="-457200">
              <a:spcBef>
                <a:spcPts val="400"/>
              </a:spcBef>
              <a:buAutoNum type="arabicPeriod"/>
            </a:pPr>
            <a:r>
              <a:rPr lang="en-US" sz="2200">
                <a:latin typeface="Microsoft Sans Serif"/>
              </a:rPr>
              <a:t>Click</a:t>
            </a:r>
            <a:r>
              <a:rPr sz="2200">
                <a:latin typeface="Microsoft Sans Serif"/>
              </a:rPr>
              <a:t> "Add SSH key"</a:t>
            </a:r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AE4819AC-175A-5072-D6A9-B8A581737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04981C3-652B-4E8B-FDB0-378B0E15DEBF}"/>
              </a:ext>
            </a:extLst>
          </p:cNvPr>
          <p:cNvGrpSpPr/>
          <p:nvPr/>
        </p:nvGrpSpPr>
        <p:grpSpPr>
          <a:xfrm>
            <a:off x="7252585" y="3144203"/>
            <a:ext cx="4745664" cy="3528987"/>
            <a:chOff x="5545470" y="822761"/>
            <a:chExt cx="6192873" cy="4757637"/>
          </a:xfrm>
        </p:grpSpPr>
        <p:pic>
          <p:nvPicPr>
            <p:cNvPr id="4" name="Picture 3" descr="Image 11 - GitHub authentication setup (2)">
              <a:extLst>
                <a:ext uri="{FF2B5EF4-FFF2-40B4-BE49-F238E27FC236}">
                  <a16:creationId xmlns:a16="http://schemas.microsoft.com/office/drawing/2014/main" id="{45A89631-EDB0-5B2A-982C-A30DDA52F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5470" y="822761"/>
              <a:ext cx="6192873" cy="4757637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C51F10-185A-49F3-AAFA-A19C99129D96}"/>
                </a:ext>
              </a:extLst>
            </p:cNvPr>
            <p:cNvSpPr/>
            <p:nvPr/>
          </p:nvSpPr>
          <p:spPr>
            <a:xfrm>
              <a:off x="5780568" y="1394635"/>
              <a:ext cx="2361609" cy="57179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32624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00356B"/>
                </a:solidFill>
                <a:latin typeface="Microsoft Sans Serif"/>
              </a:rPr>
              <a:t>SSH Setup: Step 4 – Configure &amp; Test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sz="2200">
                <a:latin typeface="Microsoft Sans Serif"/>
              </a:rPr>
              <a:t>Test your connection:</a:t>
            </a:r>
            <a:endParaRPr sz="2200" dirty="0"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ssh -T git@github.com</a:t>
            </a:r>
          </a:p>
          <a:p>
            <a:pPr>
              <a:spcBef>
                <a:spcPts val="1200"/>
              </a:spcBef>
            </a:pPr>
            <a:endParaRPr lang="en-US" sz="2200" dirty="0">
              <a:latin typeface="Microsoft Sans Serif"/>
            </a:endParaRPr>
          </a:p>
          <a:p>
            <a:pPr>
              <a:spcBef>
                <a:spcPts val="1200"/>
              </a:spcBef>
            </a:pPr>
            <a:r>
              <a:rPr sz="2200">
                <a:latin typeface="Microsoft Sans Serif"/>
              </a:rPr>
              <a:t>You should see:</a:t>
            </a:r>
            <a:endParaRPr/>
          </a:p>
          <a:p>
            <a:pPr>
              <a:spcBef>
                <a:spcPts val="600"/>
              </a:spcBef>
            </a:pPr>
            <a:r>
              <a:rPr sz="2000" dirty="0">
                <a:solidFill>
                  <a:srgbClr val="008000"/>
                </a:solidFill>
                <a:latin typeface="Consolas"/>
              </a:rPr>
              <a:t>"Hi [your-username]! You've successfully authenticated..."</a:t>
            </a:r>
          </a:p>
          <a:p>
            <a:pPr>
              <a:spcBef>
                <a:spcPts val="1000"/>
              </a:spcBef>
            </a:pPr>
            <a:r>
              <a:rPr lang="en-US" sz="2000">
                <a:solidFill>
                  <a:srgbClr val="666666"/>
                </a:solidFill>
                <a:latin typeface="Microsoft Sans Serif"/>
              </a:rPr>
              <a:t>  </a:t>
            </a:r>
            <a:r>
              <a:rPr sz="2000">
                <a:solidFill>
                  <a:srgbClr val="666666"/>
                </a:solidFill>
                <a:latin typeface="Microsoft Sans Serif"/>
              </a:rPr>
              <a:t>If you see a warning about authenticity, type yes and press Enter.</a:t>
            </a: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03432035-6A33-0525-8D57-A657C4BA9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439094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00356B"/>
                </a:solidFill>
                <a:latin typeface="Microsoft Sans Serif"/>
              </a:rPr>
              <a:t>Git Setup: Tell Git Who You Are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sz="2200">
                <a:latin typeface="Microsoft Sans Serif"/>
              </a:rPr>
              <a:t>One-time setup — use your real name and email:</a:t>
            </a:r>
          </a:p>
          <a:p>
            <a:pPr>
              <a:spcBef>
                <a:spcPts val="1000"/>
              </a:spcBef>
            </a:pPr>
            <a:r>
              <a:rPr lang="en-US" sz="2200">
                <a:solidFill>
                  <a:srgbClr val="008000"/>
                </a:solidFill>
                <a:latin typeface="Consolas"/>
              </a:rPr>
              <a:t>  </a:t>
            </a:r>
            <a:r>
              <a:rPr sz="2200">
                <a:solidFill>
                  <a:srgbClr val="008000"/>
                </a:solidFill>
                <a:latin typeface="Consolas"/>
              </a:rPr>
              <a:t>git config --global user.name "Your Name"</a:t>
            </a: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8000"/>
                </a:solidFill>
                <a:latin typeface="Consolas"/>
              </a:rPr>
              <a:t>  </a:t>
            </a:r>
            <a:r>
              <a:rPr sz="2200" dirty="0">
                <a:solidFill>
                  <a:srgbClr val="008000"/>
                </a:solidFill>
                <a:latin typeface="Consolas"/>
              </a:rPr>
              <a:t>git config --global </a:t>
            </a:r>
            <a:r>
              <a:rPr sz="2200" dirty="0" err="1">
                <a:solidFill>
                  <a:srgbClr val="008000"/>
                </a:solidFill>
                <a:latin typeface="Consolas"/>
              </a:rPr>
              <a:t>user.email</a:t>
            </a:r>
            <a:r>
              <a:rPr sz="2200" dirty="0">
                <a:solidFill>
                  <a:srgbClr val="008000"/>
                </a:solidFill>
                <a:latin typeface="Consolas"/>
              </a:rPr>
              <a:t> "your.email@example.com"</a:t>
            </a:r>
          </a:p>
          <a:p>
            <a:pPr>
              <a:spcBef>
                <a:spcPts val="1600"/>
              </a:spcBef>
            </a:pPr>
            <a:r>
              <a:rPr sz="2200">
                <a:latin typeface="Microsoft Sans Serif"/>
              </a:rPr>
              <a:t>Verify:</a:t>
            </a:r>
          </a:p>
          <a:p>
            <a:pPr>
              <a:spcBef>
                <a:spcPts val="600"/>
              </a:spcBef>
            </a:pPr>
            <a:r>
              <a:rPr lang="en-US" sz="2200">
                <a:solidFill>
                  <a:srgbClr val="008000"/>
                </a:solidFill>
                <a:latin typeface="Consolas"/>
              </a:rPr>
              <a:t>  </a:t>
            </a:r>
            <a:r>
              <a:rPr sz="2200">
                <a:solidFill>
                  <a:srgbClr val="008000"/>
                </a:solidFill>
                <a:latin typeface="Consolas"/>
              </a:rPr>
              <a:t>git config --global --list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666666"/>
                </a:solidFill>
                <a:latin typeface="Microsoft Sans Serif"/>
              </a:rPr>
              <a:t>(press q to exit the list)</a:t>
            </a:r>
          </a:p>
          <a:p>
            <a:pPr>
              <a:spcBef>
                <a:spcPts val="1600"/>
              </a:spcBef>
            </a:pPr>
            <a:r>
              <a:rPr sz="2200">
                <a:latin typeface="Microsoft Sans Serif"/>
              </a:rPr>
              <a:t>This attaches your name to every commit you make.</a:t>
            </a:r>
          </a:p>
          <a:p>
            <a:pPr>
              <a:spcBef>
                <a:spcPts val="1400"/>
              </a:spcBef>
            </a:pPr>
            <a:r>
              <a:rPr sz="2600" b="1">
                <a:solidFill>
                  <a:srgbClr val="00356B"/>
                </a:solidFill>
                <a:latin typeface="Microsoft Sans Serif"/>
              </a:rPr>
              <a:t>✅  You are now connected to GitHub from your computer!</a:t>
            </a: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73149A8B-79D7-B54D-40DA-09FD0616C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45602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4000" b="1">
                <a:solidFill>
                  <a:srgbClr val="00356B"/>
                </a:solidFill>
                <a:latin typeface="Consolas"/>
              </a:rPr>
              <a:t>git clone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sz="2600">
                <a:latin typeface="Microsoft Sans Serif"/>
              </a:rPr>
              <a:t>Copy a GitHub repository to your local machine.</a:t>
            </a:r>
          </a:p>
          <a:p>
            <a:pPr>
              <a:spcBef>
                <a:spcPts val="1600"/>
              </a:spcBef>
            </a:pPr>
            <a:r>
              <a:rPr sz="2400" b="1">
                <a:latin typeface="Microsoft Sans Serif"/>
              </a:rPr>
              <a:t>What it does: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•  Downloads all files from the repository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•  Creates a folder on your computer with the repo name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•  Sets up the connection (remote) back to GitHub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•  Preserves the full version history</a:t>
            </a:r>
          </a:p>
          <a:p>
            <a:pPr>
              <a:spcBef>
                <a:spcPts val="1400"/>
              </a:spcBef>
            </a:pPr>
            <a:endParaRPr lang="en-US" sz="2200" dirty="0">
              <a:solidFill>
                <a:srgbClr val="666666"/>
              </a:solidFill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666666"/>
                </a:solidFill>
                <a:latin typeface="Microsoft Sans Serif"/>
              </a:rPr>
              <a:t>Think of it as: downloading a project AND its history, with a live link back to GitHub.</a:t>
            </a:r>
            <a:endParaRPr/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B594F879-C3A9-11BC-CED2-9406052D6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pic>
        <p:nvPicPr>
          <p:cNvPr id="5" name="Picture 4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83723AEE-639F-990B-A10A-0DFEBA660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544" y="218110"/>
            <a:ext cx="524566" cy="6239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46730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00356B"/>
                </a:solidFill>
                <a:latin typeface="Microsoft Sans Serif"/>
              </a:rPr>
              <a:t>Activity: Clone the Workshop Repository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Open your terminal and type:</a:t>
            </a:r>
          </a:p>
          <a:p>
            <a:pPr>
              <a:spcBef>
                <a:spcPts val="600"/>
              </a:spcBef>
            </a:pPr>
            <a:r>
              <a:rPr lang="en-US" sz="2200">
                <a:solidFill>
                  <a:srgbClr val="008000"/>
                </a:solidFill>
                <a:latin typeface="Consolas"/>
              </a:rPr>
              <a:t>  </a:t>
            </a:r>
            <a:r>
              <a:rPr sz="2200">
                <a:solidFill>
                  <a:srgbClr val="008000"/>
                </a:solidFill>
                <a:latin typeface="Consolas"/>
              </a:rPr>
              <a:t>cd ~/Desktop</a:t>
            </a:r>
          </a:p>
          <a:p>
            <a:pPr>
              <a:spcBef>
                <a:spcPts val="600"/>
              </a:spcBef>
            </a:pPr>
            <a:r>
              <a:rPr lang="en-US" sz="2200">
                <a:solidFill>
                  <a:srgbClr val="008000"/>
                </a:solidFill>
                <a:latin typeface="Consolas"/>
              </a:rPr>
              <a:t>  </a:t>
            </a:r>
            <a:r>
              <a:rPr sz="2200">
                <a:solidFill>
                  <a:srgbClr val="008000"/>
                </a:solidFill>
                <a:latin typeface="Consolas"/>
              </a:rPr>
              <a:t>git clone https://github.com/mitchellxh/</a:t>
            </a:r>
            <a:r>
              <a:rPr lang="en-US" sz="2200" dirty="0">
                <a:solidFill>
                  <a:srgbClr val="008000"/>
                </a:solidFill>
                <a:latin typeface="Consolas"/>
              </a:rPr>
              <a:t>git-workshop-2</a:t>
            </a:r>
            <a:r>
              <a:rPr sz="2200" dirty="0">
                <a:solidFill>
                  <a:srgbClr val="008000"/>
                </a:solidFill>
                <a:latin typeface="Consolas"/>
              </a:rPr>
              <a:t>.git</a:t>
            </a:r>
          </a:p>
          <a:p>
            <a:pPr>
              <a:spcBef>
                <a:spcPts val="600"/>
              </a:spcBef>
            </a:pPr>
            <a:r>
              <a:rPr lang="en-US" sz="2200">
                <a:solidFill>
                  <a:srgbClr val="008000"/>
                </a:solidFill>
                <a:latin typeface="Consolas"/>
              </a:rPr>
              <a:t>  </a:t>
            </a:r>
            <a:r>
              <a:rPr sz="2200">
                <a:solidFill>
                  <a:srgbClr val="008000"/>
                </a:solidFill>
                <a:latin typeface="Consolas"/>
              </a:rPr>
              <a:t>cd </a:t>
            </a:r>
            <a:r>
              <a:rPr lang="en-US" sz="2200">
                <a:solidFill>
                  <a:srgbClr val="008000"/>
                </a:solidFill>
                <a:latin typeface="Consolas"/>
              </a:rPr>
              <a:t>git-workshop-2</a:t>
            </a:r>
            <a:endParaRPr sz="2200">
              <a:solidFill>
                <a:srgbClr val="008000"/>
              </a:solidFill>
              <a:latin typeface="Consolas"/>
            </a:endParaRPr>
          </a:p>
          <a:p>
            <a:pPr>
              <a:spcBef>
                <a:spcPts val="1600"/>
              </a:spcBef>
            </a:pPr>
            <a:r>
              <a:rPr sz="2400">
                <a:latin typeface="Microsoft Sans Serif"/>
              </a:rPr>
              <a:t>Verify:</a:t>
            </a:r>
            <a:endParaRPr/>
          </a:p>
          <a:p>
            <a:pPr>
              <a:spcBef>
                <a:spcPts val="600"/>
              </a:spcBef>
            </a:pPr>
            <a:r>
              <a:rPr lang="en-US" sz="2200">
                <a:solidFill>
                  <a:srgbClr val="008000"/>
                </a:solidFill>
                <a:latin typeface="Consolas"/>
              </a:rPr>
              <a:t>  </a:t>
            </a:r>
            <a:r>
              <a:rPr sz="2200">
                <a:solidFill>
                  <a:srgbClr val="008000"/>
                </a:solidFill>
                <a:latin typeface="Consolas"/>
              </a:rPr>
              <a:t>ls -l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666666"/>
                </a:solidFill>
                <a:latin typeface="Microsoft Sans Serif"/>
              </a:rPr>
              <a:t>You should see: index.html, style.css, script.js, README.md</a:t>
            </a:r>
          </a:p>
          <a:p>
            <a:pPr>
              <a:spcBef>
                <a:spcPts val="800"/>
              </a:spcBef>
            </a:pPr>
            <a:endParaRPr lang="en-US" sz="2000" dirty="0">
              <a:solidFill>
                <a:srgbClr val="666666"/>
              </a:solidFill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1600"/>
              </a:spcBef>
            </a:pPr>
            <a:r>
              <a:rPr sz="2200" b="1">
                <a:latin typeface="Consolas"/>
              </a:rPr>
              <a:t>clone </a:t>
            </a:r>
            <a:r>
              <a:rPr sz="2200">
                <a:latin typeface="Microsoft Sans Serif"/>
              </a:rPr>
              <a:t>: a git command that makes a local copy of a GitHub repository</a:t>
            </a: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592AE0F6-2658-ADEE-4377-A5C07CDA9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6AB73F6-4F88-3912-D2F8-78AB65415D40}"/>
              </a:ext>
            </a:extLst>
          </p:cNvPr>
          <p:cNvCxnSpPr/>
          <p:nvPr/>
        </p:nvCxnSpPr>
        <p:spPr>
          <a:xfrm flipV="1">
            <a:off x="360623" y="4965547"/>
            <a:ext cx="11227980" cy="1299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45653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00356B"/>
                </a:solidFill>
                <a:latin typeface="Microsoft Sans Serif"/>
              </a:rPr>
              <a:t>Activity: Personalize Your Page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Open index.html in your text editor</a:t>
            </a:r>
            <a:r>
              <a:rPr lang="en-US" sz="2400">
                <a:latin typeface="Microsoft Sans Serif"/>
              </a:rPr>
              <a:t>:</a:t>
            </a:r>
            <a:endParaRPr sz="2400">
              <a:latin typeface="Microsoft Sans Serif"/>
            </a:endParaRPr>
          </a:p>
          <a:p>
            <a:pPr marL="457200" indent="-457200">
              <a:spcBef>
                <a:spcPts val="800"/>
              </a:spcBef>
              <a:buAutoNum type="arabicPeriod"/>
            </a:pPr>
            <a:r>
              <a:rPr lang="en-US" sz="2200">
                <a:latin typeface="Microsoft Sans Serif"/>
              </a:rPr>
              <a:t>Find</a:t>
            </a:r>
            <a:r>
              <a:rPr sz="2200">
                <a:latin typeface="Microsoft Sans Serif"/>
              </a:rPr>
              <a:t> YOUR_USERNAME → replace with your GitHub username</a:t>
            </a:r>
            <a:endParaRPr lang="en-US" sz="2200">
              <a:latin typeface="Microsoft Sans Serif"/>
            </a:endParaRPr>
          </a:p>
          <a:p>
            <a:pPr marL="457200" indent="-457200">
              <a:spcBef>
                <a:spcPts val="800"/>
              </a:spcBef>
              <a:buAutoNum type="arabicPeriod"/>
            </a:pPr>
            <a:r>
              <a:rPr lang="en-US" sz="2200">
                <a:latin typeface="Microsoft Sans Serif"/>
              </a:rPr>
              <a:t>Change</a:t>
            </a:r>
            <a:r>
              <a:rPr sz="2200">
                <a:latin typeface="Microsoft Sans Serif"/>
              </a:rPr>
              <a:t> the heading to something </a:t>
            </a:r>
            <a:r>
              <a:rPr lang="en-US" sz="2200">
                <a:latin typeface="Microsoft Sans Serif"/>
              </a:rPr>
              <a:t>personal</a:t>
            </a:r>
          </a:p>
          <a:p>
            <a:pPr marL="457200" indent="-457200">
              <a:spcBef>
                <a:spcPts val="800"/>
              </a:spcBef>
              <a:buAutoNum type="arabicPeriod"/>
            </a:pPr>
            <a:r>
              <a:rPr lang="en-US" sz="2200">
                <a:latin typeface="Microsoft Sans Serif"/>
              </a:rPr>
              <a:t>Save</a:t>
            </a:r>
            <a:r>
              <a:rPr sz="2200">
                <a:latin typeface="Microsoft Sans Serif"/>
              </a:rPr>
              <a:t> the file</a:t>
            </a:r>
            <a:endParaRPr sz="2200"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spcBef>
                <a:spcPts val="800"/>
              </a:spcBef>
              <a:buAutoNum type="arabicPeriod"/>
            </a:pPr>
            <a:endParaRPr lang="en-US" sz="2200" dirty="0">
              <a:latin typeface="Microsoft Sans Serif"/>
            </a:endParaRPr>
          </a:p>
          <a:p>
            <a:pPr>
              <a:spcBef>
                <a:spcPts val="1600"/>
              </a:spcBef>
            </a:pPr>
            <a:r>
              <a:rPr sz="2400">
                <a:latin typeface="Microsoft Sans Serif"/>
              </a:rPr>
              <a:t>Now use git to save your work: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rgbClr val="008000"/>
                </a:solidFill>
                <a:latin typeface="Consolas"/>
              </a:rPr>
              <a:t>  </a:t>
            </a:r>
            <a:r>
              <a:rPr sz="2000">
                <a:solidFill>
                  <a:srgbClr val="008000"/>
                </a:solidFill>
                <a:latin typeface="Consolas"/>
              </a:rPr>
              <a:t>git status</a:t>
            </a:r>
            <a:r>
              <a:rPr sz="1800">
                <a:solidFill>
                  <a:srgbClr val="666666"/>
                </a:solidFill>
                <a:latin typeface="Microsoft Sans Serif"/>
              </a:rPr>
              <a:t>   # see what changed (files in red)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rgbClr val="008000"/>
                </a:solidFill>
                <a:latin typeface="Consolas"/>
              </a:rPr>
              <a:t>  </a:t>
            </a:r>
            <a:r>
              <a:rPr sz="2000">
                <a:solidFill>
                  <a:srgbClr val="008000"/>
                </a:solidFill>
                <a:latin typeface="Consolas"/>
              </a:rPr>
              <a:t>git add .</a:t>
            </a:r>
            <a:r>
              <a:rPr sz="1800">
                <a:solidFill>
                  <a:srgbClr val="666666"/>
                </a:solidFill>
                <a:latin typeface="Microsoft Sans Serif"/>
              </a:rPr>
              <a:t>   # stage all changes (files turn green)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rgbClr val="008000"/>
                </a:solidFill>
                <a:latin typeface="Consolas"/>
              </a:rPr>
              <a:t>  </a:t>
            </a:r>
            <a:r>
              <a:rPr sz="2000">
                <a:solidFill>
                  <a:srgbClr val="008000"/>
                </a:solidFill>
                <a:latin typeface="Consolas"/>
              </a:rPr>
              <a:t>git commit -m "Personalize my GitHub page"</a:t>
            </a:r>
            <a:r>
              <a:rPr sz="1800">
                <a:solidFill>
                  <a:srgbClr val="666666"/>
                </a:solidFill>
                <a:latin typeface="Microsoft Sans Serif"/>
              </a:rPr>
              <a:t>   # save a snapshot</a:t>
            </a: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9204D723-97C4-2F34-03E1-E6844C5DA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New Terms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sz="2400" b="1">
                <a:latin typeface="Consolas"/>
              </a:rPr>
              <a:t>git status:  </a:t>
            </a:r>
            <a:r>
              <a:rPr sz="2200">
                <a:latin typeface="Microsoft Sans Serif"/>
              </a:rPr>
              <a:t>Check what files have been modified</a:t>
            </a:r>
            <a:endParaRPr sz="2200">
              <a:latin typeface="Microsoft Sans Serif"/>
              <a:ea typeface="Microsoft Sans Serif"/>
              <a:cs typeface="Microsoft Sans Serif"/>
            </a:endParaRPr>
          </a:p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sz="2400" b="1">
                <a:latin typeface="Consolas"/>
              </a:rPr>
              <a:t>git add:  </a:t>
            </a:r>
            <a:r>
              <a:rPr sz="2200">
                <a:latin typeface="Microsoft Sans Serif"/>
              </a:rPr>
              <a:t>Stage changes (tell git what to include in the next save)</a:t>
            </a:r>
            <a:endParaRPr sz="2200">
              <a:latin typeface="Microsoft Sans Serif"/>
              <a:ea typeface="Microsoft Sans Serif"/>
              <a:cs typeface="Microsoft Sans Serif"/>
            </a:endParaRPr>
          </a:p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sz="2400" b="1">
                <a:latin typeface="Consolas"/>
              </a:rPr>
              <a:t>git commit:  </a:t>
            </a:r>
            <a:r>
              <a:rPr sz="2200">
                <a:latin typeface="Microsoft Sans Serif"/>
              </a:rPr>
              <a:t>Save a snapshot of your staged changes with a message</a:t>
            </a:r>
            <a:endParaRPr sz="2200">
              <a:latin typeface="Microsoft Sans Serif"/>
              <a:ea typeface="Microsoft Sans Serif"/>
              <a:cs typeface="Microsoft Sans Serif"/>
            </a:endParaRPr>
          </a:p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sz="2400" b="1">
                <a:latin typeface="Consolas"/>
              </a:rPr>
              <a:t>staging area:  </a:t>
            </a:r>
            <a:r>
              <a:rPr sz="2200">
                <a:latin typeface="Microsoft Sans Serif"/>
              </a:rPr>
              <a:t>The "waiting room" between editing and committing</a:t>
            </a:r>
            <a:endParaRPr sz="2200"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2400"/>
              </a:spcBef>
            </a:pPr>
            <a:r>
              <a:rPr sz="2400" b="1">
                <a:solidFill>
                  <a:srgbClr val="00356B"/>
                </a:solidFill>
                <a:latin typeface="Microsoft Sans Serif"/>
              </a:rPr>
              <a:t>So far everything has happened locally on your computer.</a:t>
            </a:r>
          </a:p>
          <a:p>
            <a:pPr>
              <a:spcBef>
                <a:spcPts val="600"/>
              </a:spcBef>
            </a:pPr>
            <a:endParaRPr lang="en-US" sz="2400" dirty="0"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600"/>
              </a:spcBef>
            </a:pPr>
            <a:r>
              <a:rPr sz="2400">
                <a:latin typeface="Microsoft Sans Serif"/>
              </a:rPr>
              <a:t>Next: send it to GitHub.</a:t>
            </a:r>
            <a:endParaRPr/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5432951B-1955-92C4-73E4-A3019FE49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3745B06-E8FF-FEB6-D272-508BCB93B344}"/>
              </a:ext>
            </a:extLst>
          </p:cNvPr>
          <p:cNvCxnSpPr/>
          <p:nvPr/>
        </p:nvCxnSpPr>
        <p:spPr>
          <a:xfrm flipV="1">
            <a:off x="378344" y="4646570"/>
            <a:ext cx="11227980" cy="1299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48115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00356B"/>
                </a:solidFill>
                <a:latin typeface="Microsoft Sans Serif"/>
              </a:rPr>
              <a:t>Activity: Create Your Repository on GitHub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On GitHub.com: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US" sz="2200">
                <a:latin typeface="Microsoft Sans Serif"/>
              </a:rPr>
              <a:t>Click</a:t>
            </a:r>
            <a:r>
              <a:rPr sz="2200">
                <a:latin typeface="Microsoft Sans Serif"/>
              </a:rPr>
              <a:t>  +  →  "New repository"</a:t>
            </a:r>
            <a:endParaRPr lang="en-US" sz="2200" dirty="0">
              <a:latin typeface="Microsoft Sans Serif"/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endParaRPr lang="en-US" sz="2200" dirty="0">
              <a:latin typeface="Microsoft Sans Serif"/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sz="2200">
                <a:latin typeface="Microsoft Sans Serif"/>
              </a:rPr>
              <a:t>Name it: my-first-website</a:t>
            </a:r>
            <a:endParaRPr lang="en-US" sz="2200">
              <a:latin typeface="Microsoft Sans Serif"/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endParaRPr lang="en-US" sz="2200" dirty="0">
              <a:latin typeface="Microsoft Sans Serif"/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US" sz="2200" dirty="0">
                <a:latin typeface="Microsoft Sans Serif"/>
              </a:rPr>
              <a:t> </a:t>
            </a:r>
            <a:r>
              <a:rPr lang="en-US" sz="2200">
                <a:latin typeface="Microsoft Sans Serif"/>
              </a:rPr>
              <a:t>Set</a:t>
            </a:r>
            <a:r>
              <a:rPr sz="2200" dirty="0">
                <a:latin typeface="Microsoft Sans Serif"/>
              </a:rPr>
              <a:t> it </a:t>
            </a:r>
            <a:r>
              <a:rPr lang="en-US" sz="2200">
                <a:latin typeface="Microsoft Sans Serif"/>
              </a:rPr>
              <a:t>public/private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endParaRPr lang="en-US" sz="2200" dirty="0">
              <a:latin typeface="Microsoft Sans Serif"/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US" sz="2200">
                <a:latin typeface="Microsoft Sans Serif"/>
              </a:rPr>
              <a:t>Do</a:t>
            </a:r>
            <a:r>
              <a:rPr sz="2200" dirty="0">
                <a:latin typeface="Microsoft Sans Serif"/>
              </a:rPr>
              <a:t> </a:t>
            </a:r>
            <a:r>
              <a:rPr sz="2200" b="1" u="sng">
                <a:latin typeface="Microsoft Sans Serif"/>
              </a:rPr>
              <a:t>NOT </a:t>
            </a:r>
            <a:r>
              <a:rPr sz="2200">
                <a:latin typeface="Microsoft Sans Serif"/>
              </a:rPr>
              <a:t>initialize with README (we already have files)</a:t>
            </a:r>
            <a:endParaRPr lang="en-US" sz="2200">
              <a:latin typeface="Microsoft Sans Serif"/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endParaRPr lang="en-US" sz="2200" dirty="0">
              <a:latin typeface="Microsoft Sans Serif"/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US" sz="2200" dirty="0">
                <a:latin typeface="Microsoft Sans Serif"/>
              </a:rPr>
              <a:t> </a:t>
            </a:r>
            <a:r>
              <a:rPr sz="2200">
                <a:latin typeface="Microsoft Sans Serif"/>
              </a:rPr>
              <a:t>Click "Create repository"</a:t>
            </a:r>
            <a:endParaRPr lang="en-US" sz="220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C395687B-6604-C441-5CCD-495656D24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5C7EDCD-23DD-E452-8555-BA00826A5D72}"/>
              </a:ext>
            </a:extLst>
          </p:cNvPr>
          <p:cNvGrpSpPr/>
          <p:nvPr/>
        </p:nvGrpSpPr>
        <p:grpSpPr>
          <a:xfrm>
            <a:off x="7708605" y="799652"/>
            <a:ext cx="4365256" cy="2405629"/>
            <a:chOff x="7708605" y="799652"/>
            <a:chExt cx="4365256" cy="2405629"/>
          </a:xfrm>
        </p:grpSpPr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8B817002-8A63-B452-D34C-C3DC5A918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08605" y="799652"/>
              <a:ext cx="4365256" cy="2405629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60A0FCD-1229-2E64-D505-84B9F3B0E885}"/>
                </a:ext>
              </a:extLst>
            </p:cNvPr>
            <p:cNvSpPr/>
            <p:nvPr/>
          </p:nvSpPr>
          <p:spPr>
            <a:xfrm>
              <a:off x="7711553" y="1209817"/>
              <a:ext cx="781913" cy="9334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78F14F1-D9DD-3014-4560-275525179B34}"/>
              </a:ext>
            </a:extLst>
          </p:cNvPr>
          <p:cNvGrpSpPr/>
          <p:nvPr/>
        </p:nvGrpSpPr>
        <p:grpSpPr>
          <a:xfrm>
            <a:off x="8376051" y="3278372"/>
            <a:ext cx="3697852" cy="3437861"/>
            <a:chOff x="8376051" y="3278372"/>
            <a:chExt cx="3697852" cy="3437861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2621E44-0869-F9E9-57A7-066977CFD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76051" y="3278372"/>
              <a:ext cx="3697852" cy="343786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6B090E-F012-D0DC-10AC-01CB11E95112}"/>
                </a:ext>
              </a:extLst>
            </p:cNvPr>
            <p:cNvSpPr/>
            <p:nvPr/>
          </p:nvSpPr>
          <p:spPr>
            <a:xfrm>
              <a:off x="8597598" y="3596235"/>
              <a:ext cx="746472" cy="15241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54784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00356B"/>
                </a:solidFill>
                <a:latin typeface="Microsoft Sans Serif"/>
              </a:rPr>
              <a:t>Activity: Connect &amp; Push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Back in your terminal:</a:t>
            </a:r>
          </a:p>
          <a:p>
            <a:pPr>
              <a:spcBef>
                <a:spcPts val="800"/>
              </a:spcBef>
            </a:pPr>
            <a:r>
              <a:rPr lang="en-US">
                <a:solidFill>
                  <a:srgbClr val="008000"/>
                </a:solidFill>
                <a:latin typeface="Consolas"/>
              </a:rPr>
              <a:t>  </a:t>
            </a:r>
            <a:r>
              <a:rPr sz="1800">
                <a:solidFill>
                  <a:srgbClr val="008000"/>
                </a:solidFill>
                <a:latin typeface="Consolas"/>
              </a:rPr>
              <a:t>git remote remove origin</a:t>
            </a:r>
          </a:p>
          <a:p>
            <a:pPr marL="342900" indent="-342900">
              <a:spcBef>
                <a:spcPts val="200"/>
              </a:spcBef>
              <a:buAutoNum type="arabicPeriod"/>
            </a:pPr>
            <a:r>
              <a:rPr sz="1600">
                <a:solidFill>
                  <a:srgbClr val="666666"/>
                </a:solidFill>
                <a:latin typeface="Microsoft Sans Serif"/>
              </a:rPr>
              <a:t># disconnect from the template</a:t>
            </a:r>
            <a:endParaRPr sz="1600">
              <a:solidFill>
                <a:srgbClr val="666666"/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342900" indent="-342900">
              <a:spcBef>
                <a:spcPts val="200"/>
              </a:spcBef>
              <a:buAutoNum type="arabicPeriod"/>
            </a:pPr>
            <a:endParaRPr lang="en-US" sz="1600" dirty="0">
              <a:solidFill>
                <a:srgbClr val="666666"/>
              </a:solidFill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800"/>
              </a:spcBef>
            </a:pPr>
            <a:r>
              <a:rPr lang="en-US" dirty="0">
                <a:solidFill>
                  <a:srgbClr val="008000"/>
                </a:solidFill>
                <a:latin typeface="Consolas"/>
              </a:rPr>
              <a:t> </a:t>
            </a:r>
            <a:r>
              <a:rPr sz="1800" dirty="0">
                <a:solidFill>
                  <a:srgbClr val="008000"/>
                </a:solidFill>
                <a:latin typeface="Consolas"/>
              </a:rPr>
              <a:t>git remote add origin </a:t>
            </a:r>
            <a:r>
              <a:rPr sz="1800" dirty="0" err="1">
                <a:solidFill>
                  <a:srgbClr val="008000"/>
                </a:solidFill>
                <a:latin typeface="Consolas"/>
                <a:hlinkClick r:id="rId2"/>
              </a:rPr>
              <a:t>git@github.com:YOUR_USERNAME</a:t>
            </a:r>
            <a:r>
              <a:rPr sz="1800" dirty="0">
                <a:solidFill>
                  <a:srgbClr val="008000"/>
                </a:solidFill>
                <a:latin typeface="Consolas"/>
                <a:hlinkClick r:id="rId2"/>
              </a:rPr>
              <a:t>/my-first-</a:t>
            </a:r>
            <a:r>
              <a:rPr sz="1800" dirty="0" err="1">
                <a:solidFill>
                  <a:srgbClr val="008000"/>
                </a:solidFill>
                <a:latin typeface="Consolas"/>
                <a:hlinkClick r:id="rId2"/>
              </a:rPr>
              <a:t>website.git</a:t>
            </a:r>
            <a:endParaRPr sz="1800" dirty="0" err="1">
              <a:solidFill>
                <a:srgbClr val="008000"/>
              </a:solidFill>
              <a:latin typeface="Consolas"/>
            </a:endParaRPr>
          </a:p>
          <a:p>
            <a:pPr>
              <a:spcBef>
                <a:spcPts val="200"/>
              </a:spcBef>
            </a:pPr>
            <a:r>
              <a:rPr lang="en-US" sz="1600">
                <a:solidFill>
                  <a:srgbClr val="666666"/>
                </a:solidFill>
                <a:latin typeface="Microsoft Sans Serif"/>
              </a:rPr>
              <a:t>2. </a:t>
            </a:r>
            <a:r>
              <a:rPr sz="1600">
                <a:solidFill>
                  <a:srgbClr val="666666"/>
                </a:solidFill>
                <a:latin typeface="Microsoft Sans Serif"/>
              </a:rPr>
              <a:t># connect to YOUR repo</a:t>
            </a:r>
          </a:p>
          <a:p>
            <a:pPr>
              <a:spcBef>
                <a:spcPts val="200"/>
              </a:spcBef>
            </a:pPr>
            <a:endParaRPr lang="en-US" sz="1600" dirty="0">
              <a:solidFill>
                <a:srgbClr val="666666"/>
              </a:solidFill>
              <a:latin typeface="Microsoft Sans Serif"/>
              <a:ea typeface="Microsoft Sans Serif"/>
              <a:cs typeface="Microsoft Sans Serif"/>
            </a:endParaRPr>
          </a:p>
          <a:p>
            <a:pPr>
              <a:spcBef>
                <a:spcPts val="800"/>
              </a:spcBef>
            </a:pPr>
            <a:r>
              <a:rPr lang="en-US">
                <a:solidFill>
                  <a:srgbClr val="008000"/>
                </a:solidFill>
                <a:latin typeface="Consolas"/>
              </a:rPr>
              <a:t> </a:t>
            </a:r>
            <a:r>
              <a:rPr sz="1800">
                <a:solidFill>
                  <a:srgbClr val="008000"/>
                </a:solidFill>
                <a:latin typeface="Consolas"/>
              </a:rPr>
              <a:t>git push -u origin main</a:t>
            </a:r>
          </a:p>
          <a:p>
            <a:pPr>
              <a:spcBef>
                <a:spcPts val="200"/>
              </a:spcBef>
            </a:pPr>
            <a:r>
              <a:rPr lang="en-US" sz="1600">
                <a:solidFill>
                  <a:srgbClr val="666666"/>
                </a:solidFill>
                <a:latin typeface="Microsoft Sans Serif"/>
              </a:rPr>
              <a:t>3. </a:t>
            </a:r>
            <a:r>
              <a:rPr sz="1600">
                <a:solidFill>
                  <a:srgbClr val="666666"/>
                </a:solidFill>
                <a:latin typeface="Microsoft Sans Serif"/>
              </a:rPr>
              <a:t># upload your code to GitHub</a:t>
            </a:r>
          </a:p>
          <a:p>
            <a:pPr>
              <a:spcBef>
                <a:spcPts val="1400"/>
              </a:spcBef>
            </a:pPr>
            <a:endParaRPr lang="en-US" sz="2200" dirty="0">
              <a:latin typeface="Microsoft Sans Serif"/>
            </a:endParaRPr>
          </a:p>
          <a:p>
            <a:pPr>
              <a:spcBef>
                <a:spcPts val="1400"/>
              </a:spcBef>
            </a:pPr>
            <a:r>
              <a:rPr sz="2200">
                <a:latin typeface="Microsoft Sans Serif"/>
              </a:rPr>
              <a:t>If error about 'main':</a:t>
            </a:r>
            <a:endParaRPr>
              <a:ea typeface="Calibri"/>
              <a:cs typeface="Calibri"/>
            </a:endParaRPr>
          </a:p>
          <a:p>
            <a:pPr>
              <a:spcBef>
                <a:spcPts val="600"/>
              </a:spcBef>
            </a:pPr>
            <a:r>
              <a:rPr lang="en-US">
                <a:solidFill>
                  <a:srgbClr val="008000"/>
                </a:solidFill>
                <a:latin typeface="Consolas"/>
              </a:rPr>
              <a:t> </a:t>
            </a:r>
            <a:r>
              <a:rPr sz="1800">
                <a:solidFill>
                  <a:srgbClr val="008000"/>
                </a:solidFill>
                <a:latin typeface="Consolas"/>
              </a:rPr>
              <a:t>git branch -M main &amp;&amp; git push -u origin main</a:t>
            </a:r>
          </a:p>
          <a:p>
            <a:pPr>
              <a:spcBef>
                <a:spcPts val="1400"/>
              </a:spcBef>
            </a:pPr>
            <a:r>
              <a:rPr sz="2200" b="1">
                <a:latin typeface="Consolas"/>
              </a:rPr>
              <a:t>git push:  </a:t>
            </a:r>
            <a:r>
              <a:rPr sz="2200">
                <a:latin typeface="Microsoft Sans Serif"/>
              </a:rPr>
              <a:t>upload your local commits to GitHub</a:t>
            </a: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92A6D9F4-396A-0B9E-C0E0-FB3140567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C2D0FC7-6306-D595-3B93-38FE7481C34E}"/>
              </a:ext>
            </a:extLst>
          </p:cNvPr>
          <p:cNvCxnSpPr/>
          <p:nvPr/>
        </p:nvCxnSpPr>
        <p:spPr>
          <a:xfrm flipV="1">
            <a:off x="360623" y="4965547"/>
            <a:ext cx="11227980" cy="1299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51398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00356B"/>
                </a:solidFill>
                <a:latin typeface="Microsoft Sans Serif"/>
              </a:rPr>
              <a:t>Activity: Enable GitHub Pages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In your repository on GitHub.com: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US" sz="2200">
                <a:latin typeface="Microsoft Sans Serif"/>
              </a:rPr>
              <a:t>Click Settings → Pages</a:t>
            </a:r>
            <a:r>
              <a:rPr sz="2200">
                <a:latin typeface="Microsoft Sans Serif"/>
              </a:rPr>
              <a:t> (sidebar)</a:t>
            </a:r>
            <a:endParaRPr lang="en-US" sz="2200" dirty="0">
              <a:latin typeface="Microsoft Sans Serif"/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US" sz="2200">
                <a:latin typeface="Microsoft Sans Serif"/>
              </a:rPr>
              <a:t>Source</a:t>
            </a:r>
            <a:r>
              <a:rPr sz="2200">
                <a:latin typeface="Microsoft Sans Serif"/>
              </a:rPr>
              <a:t>: "Deploy from a branch"</a:t>
            </a:r>
            <a:endParaRPr lang="en-US" sz="2200">
              <a:latin typeface="Microsoft Sans Serif"/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US" sz="2200">
                <a:latin typeface="Microsoft Sans Serif"/>
              </a:rPr>
              <a:t>Branch</a:t>
            </a:r>
            <a:r>
              <a:rPr sz="2200">
                <a:latin typeface="Microsoft Sans Serif"/>
              </a:rPr>
              <a:t>: </a:t>
            </a:r>
            <a:r>
              <a:rPr lang="en-US" sz="2200">
                <a:latin typeface="Microsoft Sans Serif"/>
              </a:rPr>
              <a:t>main</a:t>
            </a:r>
            <a:endParaRPr lang="en-US">
              <a:latin typeface="Calibri"/>
              <a:ea typeface="Calibri"/>
              <a:cs typeface="Calibri"/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sz="2200">
                <a:latin typeface="Microsoft Sans Serif"/>
              </a:rPr>
              <a:t>Click </a:t>
            </a:r>
            <a:r>
              <a:rPr lang="en-US" sz="2200">
                <a:latin typeface="Microsoft Sans Serif"/>
              </a:rPr>
              <a:t>Save</a:t>
            </a:r>
            <a:endParaRPr lang="en-US">
              <a:latin typeface="Calibri"/>
              <a:ea typeface="Calibri"/>
              <a:cs typeface="Calibri"/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US" sz="2200">
                <a:latin typeface="Microsoft Sans Serif"/>
              </a:rPr>
              <a:t>Check</a:t>
            </a:r>
            <a:r>
              <a:rPr sz="2200">
                <a:latin typeface="Microsoft Sans Serif"/>
              </a:rPr>
              <a:t> the Actions tab for build progress</a:t>
            </a:r>
            <a:endParaRPr>
              <a:latin typeface="Calibri"/>
              <a:ea typeface="Calibri"/>
              <a:cs typeface="Calibri"/>
            </a:endParaRPr>
          </a:p>
          <a:p>
            <a:pPr marL="457200" indent="-457200">
              <a:spcBef>
                <a:spcPts val="600"/>
              </a:spcBef>
              <a:buAutoNum type="arabicPeriod"/>
            </a:pPr>
            <a:endParaRPr lang="en-US" sz="2200" dirty="0">
              <a:latin typeface="Microsoft Sans Serif"/>
            </a:endParaRP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After 2-5 minutes, visit:</a:t>
            </a:r>
            <a:endParaRPr/>
          </a:p>
          <a:p>
            <a:pPr>
              <a:spcBef>
                <a:spcPts val="600"/>
              </a:spcBef>
            </a:pPr>
            <a:r>
              <a:rPr sz="2200" dirty="0">
                <a:solidFill>
                  <a:srgbClr val="008000"/>
                </a:solidFill>
                <a:latin typeface="Consolas"/>
              </a:rPr>
              <a:t>https://YOUR_USERNAME.github.io/my-first-website/</a:t>
            </a:r>
          </a:p>
          <a:p>
            <a:pPr>
              <a:spcBef>
                <a:spcPts val="1400"/>
              </a:spcBef>
            </a:pPr>
            <a:r>
              <a:rPr sz="2800" b="1">
                <a:solidFill>
                  <a:srgbClr val="00356B"/>
                </a:solidFill>
                <a:latin typeface="Microsoft Sans Serif"/>
              </a:rPr>
              <a:t>🎉  Your website is live!</a:t>
            </a: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5FC18B2A-1796-B782-C44C-38DF15636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CC22D8-C1F7-FC86-2A45-DDD447ADD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026" y="797944"/>
            <a:ext cx="5650381" cy="390345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E0495E15-F86E-D42F-6B96-D94041754BBC}"/>
              </a:ext>
            </a:extLst>
          </p:cNvPr>
          <p:cNvSpPr/>
          <p:nvPr/>
        </p:nvSpPr>
        <p:spPr>
          <a:xfrm rot="1440000">
            <a:off x="10611259" y="810543"/>
            <a:ext cx="978408" cy="280327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B9DC763-2BAF-57E8-5CAC-3EDA3C59BB80}"/>
              </a:ext>
            </a:extLst>
          </p:cNvPr>
          <p:cNvSpPr/>
          <p:nvPr/>
        </p:nvSpPr>
        <p:spPr>
          <a:xfrm rot="1440000">
            <a:off x="6571221" y="4146090"/>
            <a:ext cx="978408" cy="280327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33AEDD9-BA1B-D645-2BD1-07424C3D9981}"/>
              </a:ext>
            </a:extLst>
          </p:cNvPr>
          <p:cNvSpPr/>
          <p:nvPr/>
        </p:nvSpPr>
        <p:spPr>
          <a:xfrm rot="1440000">
            <a:off x="8519353" y="2183581"/>
            <a:ext cx="978408" cy="280327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40F66C3-F9F2-BA12-C142-D89037E601E4}"/>
              </a:ext>
            </a:extLst>
          </p:cNvPr>
          <p:cNvSpPr/>
          <p:nvPr/>
        </p:nvSpPr>
        <p:spPr>
          <a:xfrm rot="1440000">
            <a:off x="8519353" y="2938392"/>
            <a:ext cx="978408" cy="280327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6F0D53-C781-4CA5-E295-B3A60FDEC6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0" r="-127" b="81952"/>
          <a:stretch>
            <a:fillRect/>
          </a:stretch>
        </p:blipFill>
        <p:spPr>
          <a:xfrm>
            <a:off x="6308026" y="5556849"/>
            <a:ext cx="5660422" cy="704492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B05C6EE5-7C3C-9FF7-BA98-46F592ECAB4B}"/>
              </a:ext>
            </a:extLst>
          </p:cNvPr>
          <p:cNvSpPr/>
          <p:nvPr/>
        </p:nvSpPr>
        <p:spPr>
          <a:xfrm rot="1440000">
            <a:off x="7901127" y="5591015"/>
            <a:ext cx="978408" cy="280327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49705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>
                <a:solidFill>
                  <a:srgbClr val="00356B"/>
                </a:solidFill>
                <a:latin typeface="Microsoft Sans Serif"/>
              </a:rPr>
              <a:t>Activity: Make Another Change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Try changing colors in style.css, then:</a:t>
            </a:r>
          </a:p>
          <a:p>
            <a:pPr>
              <a:spcBef>
                <a:spcPts val="600"/>
              </a:spcBef>
            </a:pPr>
            <a:r>
              <a:rPr lang="en-US" sz="2200">
                <a:solidFill>
                  <a:srgbClr val="008000"/>
                </a:solidFill>
                <a:latin typeface="Consolas"/>
              </a:rPr>
              <a:t>  </a:t>
            </a:r>
            <a:r>
              <a:rPr sz="2200">
                <a:solidFill>
                  <a:srgbClr val="008000"/>
                </a:solidFill>
                <a:latin typeface="Consolas"/>
              </a:rPr>
              <a:t>git status</a:t>
            </a:r>
          </a:p>
          <a:p>
            <a:pPr>
              <a:spcBef>
                <a:spcPts val="600"/>
              </a:spcBef>
            </a:pPr>
            <a:r>
              <a:rPr lang="en-US" sz="2200">
                <a:solidFill>
                  <a:srgbClr val="008000"/>
                </a:solidFill>
                <a:latin typeface="Consolas"/>
              </a:rPr>
              <a:t>  </a:t>
            </a:r>
            <a:r>
              <a:rPr sz="2200">
                <a:solidFill>
                  <a:srgbClr val="008000"/>
                </a:solidFill>
                <a:latin typeface="Consolas"/>
              </a:rPr>
              <a:t>git add .</a:t>
            </a:r>
          </a:p>
          <a:p>
            <a:pPr>
              <a:spcBef>
                <a:spcPts val="600"/>
              </a:spcBef>
            </a:pPr>
            <a:r>
              <a:rPr lang="en-US" sz="2200">
                <a:solidFill>
                  <a:srgbClr val="008000"/>
                </a:solidFill>
                <a:latin typeface="Consolas"/>
              </a:rPr>
              <a:t>  </a:t>
            </a:r>
            <a:r>
              <a:rPr sz="2200">
                <a:solidFill>
                  <a:srgbClr val="008000"/>
                </a:solidFill>
                <a:latin typeface="Consolas"/>
              </a:rPr>
              <a:t>git commit -m "Update site styles"</a:t>
            </a:r>
          </a:p>
          <a:p>
            <a:pPr>
              <a:spcBef>
                <a:spcPts val="600"/>
              </a:spcBef>
            </a:pPr>
            <a:r>
              <a:rPr lang="en-US" sz="2200">
                <a:solidFill>
                  <a:srgbClr val="008000"/>
                </a:solidFill>
                <a:latin typeface="Consolas"/>
              </a:rPr>
              <a:t>  </a:t>
            </a:r>
            <a:r>
              <a:rPr sz="2200">
                <a:solidFill>
                  <a:srgbClr val="008000"/>
                </a:solidFill>
                <a:latin typeface="Consolas"/>
              </a:rPr>
              <a:t>git push</a:t>
            </a:r>
          </a:p>
          <a:p>
            <a:pPr>
              <a:spcBef>
                <a:spcPts val="1600"/>
              </a:spcBef>
            </a:pPr>
            <a:endParaRPr lang="en-US" sz="2400" b="1" dirty="0">
              <a:latin typeface="Microsoft Sans Serif"/>
            </a:endParaRPr>
          </a:p>
          <a:p>
            <a:pPr>
              <a:spcBef>
                <a:spcPts val="1600"/>
              </a:spcBef>
            </a:pPr>
            <a:r>
              <a:rPr sz="2400" b="1">
                <a:latin typeface="Microsoft Sans Serif"/>
              </a:rPr>
              <a:t>Your GitHub Pages site will automatically update!</a:t>
            </a:r>
            <a:endParaRPr/>
          </a:p>
          <a:p>
            <a:pPr>
              <a:spcBef>
                <a:spcPts val="1400"/>
              </a:spcBef>
            </a:pPr>
            <a:r>
              <a:rPr sz="2400" b="1">
                <a:solidFill>
                  <a:srgbClr val="00356B"/>
                </a:solidFill>
                <a:latin typeface="Microsoft Sans Serif"/>
              </a:rPr>
              <a:t>The full workflow:</a:t>
            </a:r>
          </a:p>
          <a:p>
            <a:pPr algn="ctr">
              <a:spcBef>
                <a:spcPts val="600"/>
              </a:spcBef>
            </a:pPr>
            <a:r>
              <a:rPr sz="3000" b="1">
                <a:solidFill>
                  <a:srgbClr val="00356B"/>
                </a:solidFill>
                <a:latin typeface="Microsoft Sans Serif"/>
              </a:rPr>
              <a:t>Save  →  Add  →  Commit  →  Push</a:t>
            </a: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B9658288-D44E-98A0-BBAE-BE9E8F705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What's Next?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•  Customize your site: colors, sections, interactivity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•  Learn branching: git branch, git checkout, git merge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•  Explore collaboration: Issues, Pull Requests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•  Add a custom domain to your GitHub Pages site</a:t>
            </a:r>
          </a:p>
          <a:p>
            <a:pPr>
              <a:spcBef>
                <a:spcPts val="2000"/>
              </a:spcBef>
            </a:pPr>
            <a:r>
              <a:rPr sz="2800" b="1">
                <a:solidFill>
                  <a:srgbClr val="00356B"/>
                </a:solidFill>
                <a:latin typeface="Microsoft Sans Serif"/>
              </a:rPr>
              <a:t>Resources:</a:t>
            </a:r>
          </a:p>
          <a:p>
            <a:pPr>
              <a:spcBef>
                <a:spcPts val="600"/>
              </a:spcBef>
            </a:pPr>
            <a:r>
              <a:rPr sz="2000">
                <a:latin typeface="Microsoft Sans Serif"/>
              </a:rPr>
              <a:t>•  GitHub Skills: skills.github.com</a:t>
            </a:r>
          </a:p>
          <a:p>
            <a:pPr>
              <a:spcBef>
                <a:spcPts val="600"/>
              </a:spcBef>
            </a:pPr>
            <a:r>
              <a:rPr sz="2000">
                <a:latin typeface="Microsoft Sans Serif"/>
              </a:rPr>
              <a:t>•  Pro Git Book: git-scm.com/book</a:t>
            </a:r>
          </a:p>
          <a:p>
            <a:pPr>
              <a:spcBef>
                <a:spcPts val="600"/>
              </a:spcBef>
            </a:pPr>
            <a:r>
              <a:rPr sz="2000">
                <a:latin typeface="Microsoft Sans Serif"/>
              </a:rPr>
              <a:t>•  GitHub Pages Docs: docs.github.com/pages</a:t>
            </a:r>
          </a:p>
        </p:txBody>
      </p:sp>
      <p:pic>
        <p:nvPicPr>
          <p:cNvPr id="3" name="Picture 2" descr="A blue and black shield with a sun and leaves&#10;&#10;AI-generated content may be incorrect.">
            <a:extLst>
              <a:ext uri="{FF2B5EF4-FFF2-40B4-BE49-F238E27FC236}">
                <a16:creationId xmlns:a16="http://schemas.microsoft.com/office/drawing/2014/main" id="{287E4F6E-830C-6648-1649-6A62AE0B4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144" y="65710"/>
            <a:ext cx="524566" cy="6239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16A8AFB-1A50-462D-8348-553EE91B0231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558</cp:revision>
  <dcterms:created xsi:type="dcterms:W3CDTF">2013-01-27T09:14:16Z</dcterms:created>
  <dcterms:modified xsi:type="dcterms:W3CDTF">2026-03-24T14:50:30Z</dcterms:modified>
  <cp:category/>
</cp:coreProperties>
</file>